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 id="2147483661" r:id="rId5"/>
  </p:sldMasterIdLst>
  <p:notesMasterIdLst>
    <p:notesMasterId r:id="rId41"/>
  </p:notesMasterIdLst>
  <p:sldIdLst>
    <p:sldId id="256" r:id="rId6"/>
    <p:sldId id="278" r:id="rId7"/>
    <p:sldId id="317" r:id="rId8"/>
    <p:sldId id="280" r:id="rId9"/>
    <p:sldId id="279" r:id="rId10"/>
    <p:sldId id="296" r:id="rId11"/>
    <p:sldId id="322" r:id="rId12"/>
    <p:sldId id="323" r:id="rId13"/>
    <p:sldId id="282" r:id="rId14"/>
    <p:sldId id="283" r:id="rId15"/>
    <p:sldId id="318" r:id="rId16"/>
    <p:sldId id="320" r:id="rId17"/>
    <p:sldId id="324" r:id="rId18"/>
    <p:sldId id="308" r:id="rId19"/>
    <p:sldId id="325" r:id="rId20"/>
    <p:sldId id="329" r:id="rId21"/>
    <p:sldId id="333" r:id="rId22"/>
    <p:sldId id="334" r:id="rId23"/>
    <p:sldId id="331" r:id="rId24"/>
    <p:sldId id="332" r:id="rId25"/>
    <p:sldId id="328" r:id="rId26"/>
    <p:sldId id="339" r:id="rId27"/>
    <p:sldId id="327" r:id="rId28"/>
    <p:sldId id="341" r:id="rId29"/>
    <p:sldId id="338" r:id="rId30"/>
    <p:sldId id="337" r:id="rId31"/>
    <p:sldId id="336" r:id="rId32"/>
    <p:sldId id="285" r:id="rId33"/>
    <p:sldId id="286" r:id="rId34"/>
    <p:sldId id="287" r:id="rId35"/>
    <p:sldId id="342" r:id="rId36"/>
    <p:sldId id="345" r:id="rId37"/>
    <p:sldId id="344" r:id="rId38"/>
    <p:sldId id="307" r:id="rId39"/>
    <p:sldId id="293"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93" d="100"/>
          <a:sy n="93" d="100"/>
        </p:scale>
        <p:origin x="163"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0" Type="http://schemas.openxmlformats.org/officeDocument/2006/relationships/slide" Target="slides/slide15.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4/23/2024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4/23/2024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4/23/2024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4/23/2024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4/23/2024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4/23/2024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4/23/2024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4/23/2024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4/23/2024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4/23/2024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4/23/2024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4/23/2024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7EE424C-FCA3-4EDD-B274-8E055D649B7D}" type="datetime1">
              <a:rPr lang="en-US" smtClean="0"/>
              <a:t>4/23/2024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7005E26E-BCB2-4FD5-8FD5-81A5EAE94C21}" type="datetime1">
              <a:rPr lang="en-US" smtClean="0"/>
              <a:t>4/23/2024</a:t>
            </a:fld>
            <a:endParaRPr lang="en-US" dirty="0"/>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dirty="0"/>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4FAB73BC-B049-4115-A692-8D63A059BFB8}" type="slidenum">
              <a:rPr lang="en-US" dirty="0"/>
              <a:t>‹#›</a:t>
            </a:fld>
            <a:endParaRPr lang="en-US" dirty="0"/>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85C470-CD19-455C-B830-6D252EAD7FE5}" type="datetime1">
              <a:rPr lang="en-US" smtClean="0"/>
              <a:t>4/23/2024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4/23/2024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B53B1A3-0AEF-4064-A724-D27D660C8653}" type="datetime1">
              <a:rPr lang="en-US" smtClean="0"/>
              <a:t>4/23/2024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7D5D0F2-BF66-4A24-9384-A0129B196518}" type="datetime1">
              <a:rPr lang="en-US" smtClean="0"/>
              <a:t>4/23/2024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C318A6C-4F6B-48D2-BDB0-D7413B3FDB0A}" type="datetime1">
              <a:rPr lang="en-US" smtClean="0"/>
              <a:t>4/23/2024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4/23/2024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4/23/2024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4/23/2024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spTree>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C2E9B8-0487-42E4-B571-744A3D775783}" type="datetime1">
              <a:rPr lang="en-US" smtClean="0"/>
              <a:t>4/23/2024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052E32D-1E84-43FD-8158-FFFE757EB0E8}" type="datetime1">
              <a:rPr lang="en-US" smtClean="0"/>
              <a:t>4/23/2024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4/23/2024</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43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800" kern="1200">
          <a:solidFill>
            <a:schemeClr val="tx1"/>
          </a:solidFill>
          <a:latin typeface="+mn-lt"/>
          <a:ea typeface="+mn-ea"/>
          <a:cs typeface="+mn-cs"/>
        </a:defRPr>
      </a:lvl2pPr>
      <a:lvl3pPr marL="4483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
          <p:cNvPicPr>
            <a:picLocks noChangeAspect="1"/>
          </p:cNvPicPr>
          <p:nvPr/>
        </p:nvPicPr>
        <p:blipFill>
          <a:blip r:embed="rId13"/>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E7EE424C-FCA3-4EDD-B274-8E055D649B7D}" type="datetime1">
              <a:rPr lang="en-US" smtClean="0"/>
              <a:t>4/23/2024</a:t>
            </a:fld>
            <a:endParaRPr lang="en-US" dirty="0"/>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dirty="0"/>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4FAB73BC-B049-4115-A692-8D63A059BFB8}"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p:cNvSpPr>
            <a:spLocks noGrp="1" noRot="1" noChangeAspect="1" noMove="1" noResize="1" noEditPoints="1" noAdjustHandles="1" noChangeArrowheads="1" noChangeShapeType="1" noTextEdit="1"/>
          </p:cNvSpPr>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p:cNvPicPr>
            <a:picLocks noChangeAspect="1"/>
          </p:cNvPicPr>
          <p:nvPr/>
        </p:nvPicPr>
        <p:blipFill rotWithShape="1">
          <a:blip r:embed="rId2"/>
          <a:srcRect r="52444" b="-1"/>
          <a:stretch>
            <a:fillRect/>
          </a:stretch>
        </p:blipFill>
        <p:spPr>
          <a:xfrm>
            <a:off x="20" y="975"/>
            <a:ext cx="12191980" cy="6858000"/>
          </a:xfrm>
          <a:prstGeom prst="rect">
            <a:avLst/>
          </a:prstGeom>
        </p:spPr>
      </p:pic>
      <p:sp>
        <p:nvSpPr>
          <p:cNvPr id="21" name="Rectangle 20"/>
          <p:cNvSpPr>
            <a:spLocks noGrp="1" noRot="1" noChangeAspect="1" noMove="1" noResize="1" noEditPoints="1" noAdjustHandles="1" noChangeArrowheads="1" noChangeShapeType="1" noTextEdit="1"/>
          </p:cNvSpPr>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309349" y="3429000"/>
            <a:ext cx="7501651" cy="1090938"/>
          </a:xfrm>
        </p:spPr>
        <p:txBody>
          <a:bodyPr anchor="b">
            <a:normAutofit/>
          </a:bodyPr>
          <a:lstStyle/>
          <a:p>
            <a:pPr algn="l"/>
            <a:r>
              <a:rPr lang="en-US" dirty="0" smtClean="0">
                <a:solidFill>
                  <a:srgbClr val="FFFFFF"/>
                </a:solidFill>
              </a:rPr>
              <a:t>Deep fake real-time detection</a:t>
            </a:r>
            <a:endParaRPr lang="en-US" dirty="0">
              <a:solidFill>
                <a:srgbClr val="FFFFFF"/>
              </a:solidFill>
            </a:endParaRPr>
          </a:p>
        </p:txBody>
      </p:sp>
      <p:sp>
        <p:nvSpPr>
          <p:cNvPr id="3" name="Subtitle 2"/>
          <p:cNvSpPr>
            <a:spLocks noGrp="1"/>
          </p:cNvSpPr>
          <p:nvPr>
            <p:ph type="subTitle" idx="1"/>
          </p:nvPr>
        </p:nvSpPr>
        <p:spPr>
          <a:xfrm>
            <a:off x="4309349" y="4779313"/>
            <a:ext cx="7501650" cy="514816"/>
          </a:xfrm>
        </p:spPr>
        <p:txBody>
          <a:bodyPr anchor="t">
            <a:normAutofit fontScale="85000" lnSpcReduction="20000"/>
          </a:bodyPr>
          <a:lstStyle/>
          <a:p>
            <a:r>
              <a:rPr lang="en-US" dirty="0" smtClean="0">
                <a:solidFill>
                  <a:srgbClr val="FFFFFF"/>
                </a:solidFill>
              </a:rPr>
              <a:t>By	Group 4.</a:t>
            </a:r>
          </a:p>
          <a:p>
            <a:r>
              <a:rPr lang="en-US" dirty="0">
                <a:solidFill>
                  <a:srgbClr val="FFFFFF"/>
                </a:solidFill>
              </a:rPr>
              <a:t>	</a:t>
            </a:r>
            <a:r>
              <a:rPr lang="en-US" dirty="0" smtClean="0">
                <a:solidFill>
                  <a:srgbClr val="FFFFFF"/>
                </a:solidFill>
              </a:rPr>
              <a:t>Ajay P </a:t>
            </a:r>
            <a:r>
              <a:rPr lang="en-US" dirty="0" err="1" smtClean="0">
                <a:solidFill>
                  <a:srgbClr val="FFFFFF"/>
                </a:solidFill>
              </a:rPr>
              <a:t>Reji</a:t>
            </a:r>
            <a:r>
              <a:rPr lang="en-US" dirty="0" smtClean="0">
                <a:solidFill>
                  <a:srgbClr val="FFFFFF"/>
                </a:solidFill>
              </a:rPr>
              <a:t>, Arjun Joshi M, Arjun V M, Sahul M S, Dominic </a:t>
            </a:r>
            <a:r>
              <a:rPr lang="en-US" dirty="0">
                <a:solidFill>
                  <a:srgbClr val="FFFFFF"/>
                </a:solidFill>
              </a:rPr>
              <a:t>J</a:t>
            </a:r>
            <a:r>
              <a:rPr lang="en-US" dirty="0" smtClean="0">
                <a:solidFill>
                  <a:srgbClr val="FFFFFF"/>
                </a:solidFill>
              </a:rPr>
              <a:t>ohnson</a:t>
            </a:r>
          </a:p>
        </p:txBody>
      </p:sp>
      <p:cxnSp>
        <p:nvCxnSpPr>
          <p:cNvPr id="23" name="Straight Connector 22"/>
          <p:cNvCxnSpPr>
            <a:cxnSpLocks noGrp="1" noRot="1" noChangeAspect="1" noMove="1" noResize="1" noEditPoints="1" noAdjustHandles="1" noChangeArrowheads="1" noChangeShapeType="1"/>
          </p:cNvCxnSpPr>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4832975" cy="1165325"/>
          </a:xfrm>
        </p:spPr>
        <p:txBody>
          <a:bodyPr/>
          <a:lstStyle/>
          <a:p>
            <a:r>
              <a:rPr lang="en-US" sz="4800" dirty="0" smtClean="0"/>
              <a:t>introduction</a:t>
            </a:r>
            <a:endParaRPr lang="en-US" sz="5400" dirty="0" smtClean="0"/>
          </a:p>
        </p:txBody>
      </p:sp>
      <p:sp>
        <p:nvSpPr>
          <p:cNvPr id="3" name="Content Placeholder 2"/>
          <p:cNvSpPr>
            <a:spLocks noGrp="1"/>
          </p:cNvSpPr>
          <p:nvPr>
            <p:ph idx="1"/>
          </p:nvPr>
        </p:nvSpPr>
        <p:spPr>
          <a:xfrm>
            <a:off x="1024128" y="1750541"/>
            <a:ext cx="4585840" cy="4023360"/>
          </a:xfrm>
        </p:spPr>
        <p:txBody>
          <a:bodyPr>
            <a:noAutofit/>
          </a:bodyPr>
          <a:lstStyle/>
          <a:p>
            <a:pPr algn="just">
              <a:buFont typeface="Arial" panose="020B0604020202020204" pitchFamily="34" charset="0"/>
              <a:buChar char="•"/>
            </a:pPr>
            <a:r>
              <a:rPr lang="en-US" sz="2800" dirty="0" err="1" smtClean="0">
                <a:latin typeface="+mj-lt"/>
              </a:rPr>
              <a:t>Deepfake</a:t>
            </a:r>
            <a:r>
              <a:rPr lang="en-US" sz="2800" dirty="0" smtClean="0">
                <a:latin typeface="+mj-lt"/>
              </a:rPr>
              <a:t> is a technique for human image synthesis based on artificial intelligence.</a:t>
            </a:r>
          </a:p>
          <a:p>
            <a:pPr algn="just">
              <a:buFont typeface="Arial" panose="020B0604020202020204" pitchFamily="34" charset="0"/>
              <a:buChar char="•"/>
            </a:pPr>
            <a:r>
              <a:rPr lang="en-US" sz="2800" dirty="0" err="1" smtClean="0">
                <a:latin typeface="+mj-lt"/>
              </a:rPr>
              <a:t>Deepfake</a:t>
            </a:r>
            <a:r>
              <a:rPr lang="en-US" sz="2800" dirty="0" smtClean="0">
                <a:latin typeface="+mj-lt"/>
              </a:rPr>
              <a:t> are created by combining and superimposing existing images and videos onto source images and videos onto source images or videos using a deep learning technique known as generative adversarial network or unlearned methods.</a:t>
            </a:r>
          </a:p>
        </p:txBody>
      </p:sp>
      <p:pic>
        <p:nvPicPr>
          <p:cNvPr id="8" name="WhatsApp Video 2024-01-07 at 19.11.56_5daa8990">
            <a:hlinkClick r:id="" action="ppaction://media"/>
          </p:cNvPr>
          <p:cNvPicPr/>
          <p:nvPr>
            <a:videoFile r:link="rId2"/>
            <p:extLst>
              <p:ext uri="{DAA4B4D4-6D71-4841-9C94-3DE7FCFB9230}">
                <p14:media xmlns:p14="http://schemas.microsoft.com/office/powerpoint/2010/main" r:embed="rId1"/>
              </p:ext>
            </p:extLst>
          </p:nvPr>
        </p:nvPicPr>
        <p:blipFill>
          <a:blip r:embed="rId4"/>
          <a:stretch>
            <a:fillRect/>
          </a:stretch>
        </p:blipFill>
        <p:spPr>
          <a:xfrm>
            <a:off x="5972432" y="1581665"/>
            <a:ext cx="6124454" cy="4192236"/>
          </a:xfrm>
          <a:prstGeom prst="rect">
            <a:avLst/>
          </a:prstGeom>
        </p:spPr>
      </p:pic>
    </p:spTree>
  </p:cSld>
  <p:clrMapOvr>
    <a:masterClrMapping/>
  </p:clrMapOvr>
  <p:timing>
    <p:tnLst>
      <p:par>
        <p:cTn id="1" dur="indefinite" restart="never" nodeType="tmRoot">
          <p:childTnLst>
            <p:video>
              <p:cMediaNode>
                <p:cTn id="2" fill="hold" display="1">
                  <p:stCondLst>
                    <p:cond delay="indefinite"/>
                  </p:stCondLst>
                </p:cTn>
                <p:tgtEl>
                  <p:spTgt spid="8"/>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deepfake-detection"/>
          <p:cNvPicPr>
            <a:picLocks noGrp="1" noChangeAspect="1"/>
          </p:cNvPicPr>
          <p:nvPr>
            <p:ph idx="1"/>
          </p:nvPr>
        </p:nvPicPr>
        <p:blipFill>
          <a:blip r:embed="rId2"/>
          <a:stretch>
            <a:fillRect/>
          </a:stretch>
        </p:blipFill>
        <p:spPr>
          <a:xfrm>
            <a:off x="1767205" y="698500"/>
            <a:ext cx="8481060" cy="566864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smtClean="0"/>
              <a:t>How </a:t>
            </a:r>
            <a:r>
              <a:rPr lang="en-US" sz="4800" dirty="0" smtClean="0"/>
              <a:t>deep</a:t>
            </a:r>
            <a:r>
              <a:rPr lang="en-US" sz="4400" dirty="0" smtClean="0"/>
              <a:t> fakes are created?</a:t>
            </a:r>
          </a:p>
        </p:txBody>
      </p:sp>
      <p:sp>
        <p:nvSpPr>
          <p:cNvPr id="3" name="Content Placeholder 2"/>
          <p:cNvSpPr>
            <a:spLocks noGrp="1"/>
          </p:cNvSpPr>
          <p:nvPr>
            <p:ph idx="1"/>
          </p:nvPr>
        </p:nvSpPr>
        <p:spPr>
          <a:xfrm>
            <a:off x="6085704" y="1853851"/>
            <a:ext cx="5678424" cy="4058351"/>
          </a:xfrm>
        </p:spPr>
        <p:txBody>
          <a:bodyPr/>
          <a:lstStyle/>
          <a:p>
            <a:r>
              <a:rPr lang="en-US" sz="3200" b="1" dirty="0" smtClean="0">
                <a:latin typeface="+mj-lt"/>
              </a:rPr>
              <a:t>Tools for creating deep fake creation:</a:t>
            </a:r>
          </a:p>
          <a:p>
            <a:pPr>
              <a:buFont typeface="Arial" panose="020B0604020202020204" pitchFamily="34" charset="0"/>
              <a:buChar char="•"/>
            </a:pPr>
            <a:r>
              <a:rPr lang="en-US" sz="3600" dirty="0" smtClean="0">
                <a:latin typeface="+mj-lt"/>
              </a:rPr>
              <a:t>Face swap</a:t>
            </a:r>
          </a:p>
          <a:p>
            <a:pPr>
              <a:buFont typeface="Arial" panose="020B0604020202020204" pitchFamily="34" charset="0"/>
              <a:buChar char="•"/>
            </a:pPr>
            <a:r>
              <a:rPr lang="en-US" sz="3600" dirty="0" err="1" smtClean="0">
                <a:latin typeface="+mj-lt"/>
              </a:rPr>
              <a:t>Faceit</a:t>
            </a:r>
            <a:r>
              <a:rPr lang="en-US" sz="3600" dirty="0" smtClean="0">
                <a:latin typeface="+mj-lt"/>
              </a:rPr>
              <a:t> </a:t>
            </a:r>
          </a:p>
          <a:p>
            <a:pPr>
              <a:buFont typeface="Arial" panose="020B0604020202020204" pitchFamily="34" charset="0"/>
              <a:buChar char="•"/>
            </a:pPr>
            <a:r>
              <a:rPr lang="en-US" sz="3600" dirty="0" err="1">
                <a:latin typeface="+mj-lt"/>
              </a:rPr>
              <a:t>D</a:t>
            </a:r>
            <a:r>
              <a:rPr lang="en-US" sz="3600" dirty="0" err="1" smtClean="0">
                <a:latin typeface="+mj-lt"/>
              </a:rPr>
              <a:t>eepfacelab</a:t>
            </a:r>
            <a:endParaRPr lang="en-US" sz="3600" dirty="0" smtClean="0">
              <a:latin typeface="+mj-lt"/>
            </a:endParaRPr>
          </a:p>
          <a:p>
            <a:pPr>
              <a:buFont typeface="Arial" panose="020B0604020202020204" pitchFamily="34" charset="0"/>
              <a:buChar char="•"/>
            </a:pPr>
            <a:r>
              <a:rPr lang="en-US" sz="3600" dirty="0" err="1" smtClean="0">
                <a:latin typeface="+mj-lt"/>
              </a:rPr>
              <a:t>deepfakeCapsuleGAN</a:t>
            </a:r>
            <a:endParaRPr lang="en-US" sz="3600" dirty="0" smtClean="0">
              <a:latin typeface="+mj-lt"/>
            </a:endParaRPr>
          </a:p>
          <a:p>
            <a:pPr>
              <a:buFont typeface="Arial" panose="020B0604020202020204" pitchFamily="34" charset="0"/>
              <a:buChar char="•"/>
            </a:pPr>
            <a:r>
              <a:rPr lang="en-US" sz="3600" dirty="0" smtClean="0">
                <a:latin typeface="+mj-lt"/>
              </a:rPr>
              <a:t>Large resolution facemask</a:t>
            </a:r>
          </a:p>
        </p:txBody>
      </p:sp>
      <p:sp>
        <p:nvSpPr>
          <p:cNvPr id="4" name="Text Placeholder 3"/>
          <p:cNvSpPr>
            <a:spLocks noGrp="1"/>
          </p:cNvSpPr>
          <p:nvPr>
            <p:ph type="body" sz="half" idx="2"/>
          </p:nvPr>
        </p:nvSpPr>
        <p:spPr/>
        <p:txBody>
          <a:bodyPr/>
          <a:lstStyle/>
          <a:p>
            <a:endParaRPr lang="en-US" dirty="0"/>
          </a:p>
          <a:p>
            <a:endParaRPr lang="en-IN" dirty="0"/>
          </a:p>
        </p:txBody>
      </p:sp>
      <p:pic>
        <p:nvPicPr>
          <p:cNvPr id="5" name="Picture 4"/>
          <p:cNvPicPr/>
          <p:nvPr/>
        </p:nvPicPr>
        <p:blipFill>
          <a:blip r:embed="rId2"/>
          <a:stretch>
            <a:fillRect/>
          </a:stretch>
        </p:blipFill>
        <p:spPr>
          <a:xfrm>
            <a:off x="1024128" y="2454442"/>
            <a:ext cx="4133409" cy="3168106"/>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t>
            </a:r>
            <a:r>
              <a:rPr lang="en-US" sz="4800" dirty="0" smtClean="0"/>
              <a:t>deep</a:t>
            </a:r>
            <a:r>
              <a:rPr lang="en-US" dirty="0" smtClean="0"/>
              <a:t> fake detection?</a:t>
            </a:r>
            <a:endParaRPr lang="en-IN" dirty="0"/>
          </a:p>
        </p:txBody>
      </p:sp>
      <p:sp>
        <p:nvSpPr>
          <p:cNvPr id="3" name="Content Placeholder 2"/>
          <p:cNvSpPr>
            <a:spLocks noGrp="1"/>
          </p:cNvSpPr>
          <p:nvPr>
            <p:ph idx="1"/>
          </p:nvPr>
        </p:nvSpPr>
        <p:spPr>
          <a:xfrm>
            <a:off x="1024128" y="2286000"/>
            <a:ext cx="9720073" cy="4023360"/>
          </a:xfrm>
        </p:spPr>
        <p:txBody>
          <a:bodyPr>
            <a:normAutofit/>
          </a:bodyPr>
          <a:lstStyle/>
          <a:p>
            <a:pPr>
              <a:buFont typeface="Arial" panose="020B0604020202020204" pitchFamily="34" charset="0"/>
              <a:buChar char="•"/>
            </a:pPr>
            <a:r>
              <a:rPr lang="en-US" sz="3600" dirty="0" smtClean="0">
                <a:latin typeface="+mj-lt"/>
              </a:rPr>
              <a:t>Fake news</a:t>
            </a:r>
          </a:p>
          <a:p>
            <a:pPr>
              <a:buFont typeface="Arial" panose="020B0604020202020204" pitchFamily="34" charset="0"/>
              <a:buChar char="•"/>
            </a:pPr>
            <a:r>
              <a:rPr lang="en-US" sz="3600" dirty="0" smtClean="0">
                <a:latin typeface="+mj-lt"/>
              </a:rPr>
              <a:t>Malicious hoaxes</a:t>
            </a:r>
          </a:p>
          <a:p>
            <a:pPr>
              <a:buFont typeface="Arial" panose="020B0604020202020204" pitchFamily="34" charset="0"/>
              <a:buChar char="•"/>
            </a:pPr>
            <a:r>
              <a:rPr lang="en-US" sz="3600" dirty="0" smtClean="0">
                <a:latin typeface="+mj-lt"/>
              </a:rPr>
              <a:t>Financial fraud</a:t>
            </a:r>
          </a:p>
          <a:p>
            <a:pPr>
              <a:buFont typeface="Arial" panose="020B0604020202020204" pitchFamily="34" charset="0"/>
              <a:buChar char="•"/>
            </a:pPr>
            <a:r>
              <a:rPr lang="en-US" sz="3600" dirty="0" smtClean="0">
                <a:latin typeface="+mj-lt"/>
              </a:rPr>
              <a:t>Celebrity </a:t>
            </a:r>
            <a:r>
              <a:rPr lang="en-US" sz="3600" dirty="0" err="1" smtClean="0">
                <a:latin typeface="+mj-lt"/>
              </a:rPr>
              <a:t>unsual</a:t>
            </a:r>
            <a:r>
              <a:rPr lang="en-US" sz="3600" dirty="0" smtClean="0">
                <a:latin typeface="+mj-lt"/>
              </a:rPr>
              <a:t> video</a:t>
            </a:r>
          </a:p>
          <a:p>
            <a:pPr>
              <a:buFont typeface="Arial" panose="020B0604020202020204" pitchFamily="34" charset="0"/>
              <a:buChar char="•"/>
            </a:pPr>
            <a:r>
              <a:rPr lang="en-US" sz="3600" dirty="0" smtClean="0">
                <a:latin typeface="+mj-lt"/>
              </a:rPr>
              <a:t>Revenge porn</a:t>
            </a:r>
          </a:p>
          <a:p>
            <a:pPr>
              <a:buFont typeface="Arial" panose="020B0604020202020204" pitchFamily="34" charset="0"/>
              <a:buChar char="•"/>
            </a:pPr>
            <a:r>
              <a:rPr lang="en-US" sz="3600" dirty="0" smtClean="0">
                <a:latin typeface="+mj-lt"/>
              </a:rPr>
              <a:t>Politician videos</a:t>
            </a:r>
          </a:p>
        </p:txBody>
      </p:sp>
      <p:sp>
        <p:nvSpPr>
          <p:cNvPr id="5" name="AutoShape 4" descr="blob:https://web.whatsapp.com/e9768b33-a47e-4f64-b17d-5385fca2cbe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800" dirty="0"/>
              <a:t>PROPOSED SOLUTION</a:t>
            </a:r>
          </a:p>
        </p:txBody>
      </p:sp>
      <p:sp>
        <p:nvSpPr>
          <p:cNvPr id="5" name="Text Placeholder 4"/>
          <p:cNvSpPr>
            <a:spLocks noGrp="1"/>
          </p:cNvSpPr>
          <p:nvPr>
            <p:ph type="body" idx="1"/>
          </p:nvPr>
        </p:nvSpPr>
        <p:spPr>
          <a:xfrm>
            <a:off x="1024255" y="2018270"/>
            <a:ext cx="10244455" cy="4291090"/>
          </a:xfrm>
        </p:spPr>
        <p:txBody>
          <a:bodyPr>
            <a:noAutofit/>
          </a:bodyPr>
          <a:lstStyle/>
          <a:p>
            <a:pPr algn="just"/>
            <a:r>
              <a:rPr lang="en-US" sz="3200" dirty="0">
                <a:latin typeface="+mj-lt"/>
                <a:cs typeface="+mj-lt"/>
                <a:sym typeface="+mn-ea"/>
              </a:rPr>
              <a:t>The proposed solution is a real-time </a:t>
            </a:r>
            <a:r>
              <a:rPr lang="en-US" sz="3200" dirty="0" err="1">
                <a:latin typeface="+mj-lt"/>
                <a:cs typeface="+mj-lt"/>
                <a:sym typeface="+mn-ea"/>
              </a:rPr>
              <a:t>DeepFake</a:t>
            </a:r>
            <a:r>
              <a:rPr lang="en-US" sz="3200" dirty="0">
                <a:latin typeface="+mj-lt"/>
                <a:cs typeface="+mj-lt"/>
                <a:sym typeface="+mn-ea"/>
              </a:rPr>
              <a:t> detection system utilizing webcam feeds. </a:t>
            </a:r>
            <a:endParaRPr lang="en-US" sz="3200" dirty="0" smtClean="0">
              <a:latin typeface="+mj-lt"/>
              <a:cs typeface="+mj-lt"/>
              <a:sym typeface="+mn-ea"/>
            </a:endParaRPr>
          </a:p>
          <a:p>
            <a:pPr algn="just"/>
            <a:r>
              <a:rPr lang="en-US" sz="3200" dirty="0" smtClean="0">
                <a:latin typeface="+mj-lt"/>
                <a:cs typeface="+mj-lt"/>
                <a:sym typeface="+mn-ea"/>
              </a:rPr>
              <a:t>It </a:t>
            </a:r>
            <a:r>
              <a:rPr lang="en-US" sz="3200" dirty="0">
                <a:latin typeface="+mj-lt"/>
                <a:cs typeface="+mj-lt"/>
                <a:sym typeface="+mn-ea"/>
              </a:rPr>
              <a:t>combines face detection, recognition, and feature extraction techniques to classify faces as real or </a:t>
            </a:r>
            <a:r>
              <a:rPr lang="en-US" sz="3200" dirty="0" err="1">
                <a:latin typeface="+mj-lt"/>
                <a:cs typeface="+mj-lt"/>
                <a:sym typeface="+mn-ea"/>
              </a:rPr>
              <a:t>DeepFake</a:t>
            </a:r>
            <a:r>
              <a:rPr lang="en-US" sz="3200" dirty="0">
                <a:latin typeface="+mj-lt"/>
                <a:cs typeface="+mj-lt"/>
                <a:sym typeface="+mn-ea"/>
              </a:rPr>
              <a:t>. </a:t>
            </a:r>
            <a:endParaRPr lang="en-US" sz="3200" dirty="0" smtClean="0">
              <a:latin typeface="+mj-lt"/>
              <a:cs typeface="+mj-lt"/>
              <a:sym typeface="+mn-ea"/>
            </a:endParaRPr>
          </a:p>
          <a:p>
            <a:pPr algn="just"/>
            <a:r>
              <a:rPr lang="en-US" sz="3200" dirty="0" smtClean="0">
                <a:latin typeface="+mj-lt"/>
                <a:cs typeface="+mj-lt"/>
                <a:sym typeface="+mn-ea"/>
              </a:rPr>
              <a:t>Users </a:t>
            </a:r>
            <a:r>
              <a:rPr lang="en-US" sz="3200" dirty="0">
                <a:latin typeface="+mj-lt"/>
                <a:cs typeface="+mj-lt"/>
                <a:sym typeface="+mn-ea"/>
              </a:rPr>
              <a:t>can toggle the detection functionality on and off, and detected faces are annotated in real-time with labels indicating their classification</a:t>
            </a:r>
            <a:r>
              <a:rPr lang="en-US" sz="3200" dirty="0" smtClean="0">
                <a:latin typeface="+mj-lt"/>
                <a:cs typeface="+mj-lt"/>
                <a:sym typeface="+mn-ea"/>
              </a:rPr>
              <a:t>.</a:t>
            </a:r>
          </a:p>
          <a:p>
            <a:pPr algn="just"/>
            <a:r>
              <a:rPr lang="en-US" sz="3200" dirty="0" smtClean="0">
                <a:latin typeface="+mj-lt"/>
                <a:cs typeface="+mj-lt"/>
                <a:sym typeface="+mn-ea"/>
              </a:rPr>
              <a:t>The </a:t>
            </a:r>
            <a:r>
              <a:rPr lang="en-US" sz="3200" dirty="0">
                <a:latin typeface="+mj-lt"/>
                <a:cs typeface="+mj-lt"/>
                <a:sym typeface="+mn-ea"/>
              </a:rPr>
              <a:t>system provides a user-friendly interface built using </a:t>
            </a:r>
            <a:r>
              <a:rPr lang="en-US" sz="3200" dirty="0" err="1">
                <a:latin typeface="+mj-lt"/>
                <a:cs typeface="+mj-lt"/>
                <a:sym typeface="+mn-ea"/>
              </a:rPr>
              <a:t>Streamlit</a:t>
            </a:r>
            <a:r>
              <a:rPr lang="en-US" sz="3200" dirty="0">
                <a:latin typeface="+mj-lt"/>
                <a:cs typeface="+mj-lt"/>
                <a:sym typeface="+mn-ea"/>
              </a:rPr>
              <a:t>, enabling easy interaction and monitoring of potential </a:t>
            </a:r>
            <a:r>
              <a:rPr lang="en-US" sz="3200" dirty="0" err="1">
                <a:latin typeface="+mj-lt"/>
                <a:cs typeface="+mj-lt"/>
                <a:sym typeface="+mn-ea"/>
              </a:rPr>
              <a:t>DeepFake</a:t>
            </a:r>
            <a:r>
              <a:rPr lang="en-US" sz="3200" dirty="0">
                <a:latin typeface="+mj-lt"/>
                <a:cs typeface="+mj-lt"/>
                <a:sym typeface="+mn-ea"/>
              </a:rPr>
              <a:t> content</a:t>
            </a:r>
            <a:r>
              <a:rPr lang="en-US" sz="3200" dirty="0" smtClean="0">
                <a:latin typeface="+mj-lt"/>
                <a:cs typeface="+mj-lt"/>
                <a:sym typeface="+mn-ea"/>
              </a:rPr>
              <a:t>.</a:t>
            </a:r>
          </a:p>
          <a:p>
            <a:pPr algn="just"/>
            <a:endParaRPr lang="en-US" sz="3200" dirty="0">
              <a:latin typeface="+mj-lt"/>
              <a:cs typeface="+mj-l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24128" y="667264"/>
            <a:ext cx="9720072" cy="906821"/>
          </a:xfrm>
        </p:spPr>
        <p:txBody>
          <a:bodyPr>
            <a:normAutofit/>
          </a:bodyPr>
          <a:lstStyle/>
          <a:p>
            <a:r>
              <a:rPr lang="en-US" sz="2800" b="1" cap="none" dirty="0" err="1" smtClean="0"/>
              <a:t>Contd</a:t>
            </a:r>
            <a:r>
              <a:rPr lang="en-US" sz="2800" b="1" cap="none" dirty="0" smtClean="0"/>
              <a:t>….</a:t>
            </a:r>
            <a:endParaRPr lang="en-US" sz="2800" b="1" cap="none" dirty="0">
              <a:latin typeface="+mn-lt"/>
            </a:endParaRPr>
          </a:p>
        </p:txBody>
      </p:sp>
      <p:sp>
        <p:nvSpPr>
          <p:cNvPr id="5" name="Text Placeholder 4"/>
          <p:cNvSpPr>
            <a:spLocks noGrp="1"/>
          </p:cNvSpPr>
          <p:nvPr>
            <p:ph type="body" idx="1"/>
          </p:nvPr>
        </p:nvSpPr>
        <p:spPr>
          <a:xfrm>
            <a:off x="1024128" y="1886465"/>
            <a:ext cx="10244455" cy="4291090"/>
          </a:xfrm>
        </p:spPr>
        <p:txBody>
          <a:bodyPr>
            <a:noAutofit/>
          </a:bodyPr>
          <a:lstStyle/>
          <a:p>
            <a:pPr marL="0" indent="0" algn="just">
              <a:buNone/>
            </a:pPr>
            <a:r>
              <a:rPr lang="en-US" sz="3200" dirty="0">
                <a:latin typeface="+mj-lt"/>
              </a:rPr>
              <a:t>Given our project's necessity for real-time detection of </a:t>
            </a:r>
            <a:r>
              <a:rPr lang="en-US" sz="3200" dirty="0" err="1">
                <a:latin typeface="+mj-lt"/>
              </a:rPr>
              <a:t>deepfakes</a:t>
            </a:r>
            <a:r>
              <a:rPr lang="en-US" sz="3200" dirty="0">
                <a:latin typeface="+mj-lt"/>
              </a:rPr>
              <a:t> in live feeds, we implemented </a:t>
            </a:r>
            <a:r>
              <a:rPr lang="en-US" sz="3200" dirty="0" err="1">
                <a:latin typeface="+mj-lt"/>
              </a:rPr>
              <a:t>deepfake</a:t>
            </a:r>
            <a:r>
              <a:rPr lang="en-US" sz="3200" dirty="0">
                <a:latin typeface="+mj-lt"/>
              </a:rPr>
              <a:t> generation techniques for instantaneous face swapping in video streams</a:t>
            </a:r>
            <a:r>
              <a:rPr lang="en-US" sz="3200" dirty="0" smtClean="0">
                <a:latin typeface="+mj-lt"/>
              </a:rPr>
              <a:t>.</a:t>
            </a:r>
          </a:p>
          <a:p>
            <a:pPr marL="0" indent="0" algn="just">
              <a:buNone/>
            </a:pPr>
            <a:r>
              <a:rPr lang="en-US" sz="3200" dirty="0">
                <a:latin typeface="+mj-lt"/>
              </a:rPr>
              <a:t>We continuously capture video frames using </a:t>
            </a:r>
            <a:r>
              <a:rPr lang="en-US" sz="3200" dirty="0" err="1">
                <a:latin typeface="+mj-lt"/>
              </a:rPr>
              <a:t>OpenCV's</a:t>
            </a:r>
            <a:r>
              <a:rPr lang="en-US" sz="3200" dirty="0">
                <a:latin typeface="+mj-lt"/>
              </a:rPr>
              <a:t> </a:t>
            </a:r>
            <a:r>
              <a:rPr lang="en-US" sz="3200" dirty="0" err="1">
                <a:latin typeface="+mj-lt"/>
              </a:rPr>
              <a:t>VideoCapture</a:t>
            </a:r>
            <a:r>
              <a:rPr lang="en-US" sz="3200" dirty="0">
                <a:latin typeface="+mj-lt"/>
              </a:rPr>
              <a:t>. Pre-trained models detect faces and landmarks, crucial for accurate alignment. The </a:t>
            </a:r>
            <a:r>
              <a:rPr lang="en-US" sz="3200" dirty="0" err="1">
                <a:latin typeface="+mj-lt"/>
              </a:rPr>
              <a:t>face_swap</a:t>
            </a:r>
            <a:r>
              <a:rPr lang="en-US" sz="3200" dirty="0">
                <a:latin typeface="+mj-lt"/>
              </a:rPr>
              <a:t> module swaps faces by warping and blending them seamlessly. This real-time process occurs within a while loop, enabling smooth processing. Finally, </a:t>
            </a:r>
            <a:r>
              <a:rPr lang="en-US" sz="3200" dirty="0" err="1">
                <a:latin typeface="+mj-lt"/>
              </a:rPr>
              <a:t>Streamlit's</a:t>
            </a:r>
            <a:r>
              <a:rPr lang="en-US" sz="3200" dirty="0">
                <a:latin typeface="+mj-lt"/>
              </a:rPr>
              <a:t> </a:t>
            </a:r>
            <a:r>
              <a:rPr lang="en-US" sz="3200" dirty="0" err="1">
                <a:latin typeface="+mj-lt"/>
              </a:rPr>
              <a:t>st.image</a:t>
            </a:r>
            <a:r>
              <a:rPr lang="en-US" sz="3200" dirty="0">
                <a:latin typeface="+mj-lt"/>
              </a:rPr>
              <a:t>() function displays frames with swapped faces for live viewing.</a:t>
            </a:r>
            <a:endParaRPr lang="en-IN" sz="3200" dirty="0">
              <a:latin typeface="+mj-lt"/>
            </a:endParaRPr>
          </a:p>
        </p:txBody>
      </p:sp>
    </p:spTree>
    <p:extLst>
      <p:ext uri="{BB962C8B-B14F-4D97-AF65-F5344CB8AC3E}">
        <p14:creationId xmlns:p14="http://schemas.microsoft.com/office/powerpoint/2010/main" val="36509805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24255" y="864973"/>
            <a:ext cx="9720072" cy="914400"/>
          </a:xfrm>
        </p:spPr>
        <p:txBody>
          <a:bodyPr>
            <a:normAutofit/>
          </a:bodyPr>
          <a:lstStyle/>
          <a:p>
            <a:r>
              <a:rPr lang="en-US" sz="2800" b="1" cap="none" dirty="0" err="1" smtClean="0"/>
              <a:t>Contd</a:t>
            </a:r>
            <a:r>
              <a:rPr lang="en-US" sz="2800" b="1" dirty="0" smtClean="0"/>
              <a:t>….</a:t>
            </a:r>
            <a:endParaRPr lang="en-IN" sz="2800" b="1" dirty="0"/>
          </a:p>
        </p:txBody>
      </p:sp>
      <p:sp>
        <p:nvSpPr>
          <p:cNvPr id="5" name="Text Placeholder 4"/>
          <p:cNvSpPr>
            <a:spLocks noGrp="1"/>
          </p:cNvSpPr>
          <p:nvPr>
            <p:ph type="body" idx="1"/>
          </p:nvPr>
        </p:nvSpPr>
        <p:spPr>
          <a:xfrm>
            <a:off x="1024255" y="2018270"/>
            <a:ext cx="10244455" cy="4291090"/>
          </a:xfrm>
        </p:spPr>
        <p:txBody>
          <a:bodyPr>
            <a:noAutofit/>
          </a:bodyPr>
          <a:lstStyle/>
          <a:p>
            <a:pPr marL="0" indent="0" algn="just">
              <a:buNone/>
            </a:pPr>
            <a:r>
              <a:rPr lang="en-US" sz="3200" dirty="0">
                <a:latin typeface="+mj-lt"/>
              </a:rPr>
              <a:t>Additionally, the usage of ONNX (Open Neural Network Exchange) can optimize and export the deep learning models involved in face detection, alignment, and swapping. </a:t>
            </a:r>
            <a:endParaRPr lang="en-US" sz="3200" dirty="0" smtClean="0">
              <a:latin typeface="+mj-lt"/>
            </a:endParaRPr>
          </a:p>
          <a:p>
            <a:pPr marL="0" indent="0" algn="just">
              <a:buNone/>
            </a:pPr>
            <a:r>
              <a:rPr lang="en-US" sz="3200" dirty="0" smtClean="0">
                <a:latin typeface="+mj-lt"/>
              </a:rPr>
              <a:t>By </a:t>
            </a:r>
            <a:r>
              <a:rPr lang="en-US" sz="3200" dirty="0">
                <a:latin typeface="+mj-lt"/>
              </a:rPr>
              <a:t>converting these models to ONNX format, </a:t>
            </a:r>
            <a:r>
              <a:rPr lang="en-US" sz="3200" dirty="0" smtClean="0">
                <a:latin typeface="+mj-lt"/>
              </a:rPr>
              <a:t>we were able to </a:t>
            </a:r>
            <a:r>
              <a:rPr lang="en-US" sz="3200" dirty="0" err="1" smtClean="0">
                <a:latin typeface="+mj-lt"/>
              </a:rPr>
              <a:t>deploye</a:t>
            </a:r>
            <a:r>
              <a:rPr lang="en-US" sz="3200" dirty="0" smtClean="0">
                <a:latin typeface="+mj-lt"/>
              </a:rPr>
              <a:t> </a:t>
            </a:r>
            <a:r>
              <a:rPr lang="en-US" sz="3200" dirty="0">
                <a:latin typeface="+mj-lt"/>
              </a:rPr>
              <a:t>and </a:t>
            </a:r>
            <a:r>
              <a:rPr lang="en-US" sz="3200" dirty="0" smtClean="0">
                <a:latin typeface="+mj-lt"/>
              </a:rPr>
              <a:t>execute the face swapping function efficiently </a:t>
            </a:r>
            <a:r>
              <a:rPr lang="en-US" sz="3200" dirty="0">
                <a:latin typeface="+mj-lt"/>
              </a:rPr>
              <a:t>across </a:t>
            </a:r>
            <a:r>
              <a:rPr lang="en-US" sz="3200" dirty="0" smtClean="0">
                <a:latin typeface="+mj-lt"/>
              </a:rPr>
              <a:t>our hardware </a:t>
            </a:r>
            <a:r>
              <a:rPr lang="en-US" sz="3200" dirty="0">
                <a:latin typeface="+mj-lt"/>
              </a:rPr>
              <a:t>platforms. This not only ensures faster inference and better performance but also enables interoperability across various deep learning frameworks, facilitating seamless integration into the face swapping </a:t>
            </a:r>
            <a:r>
              <a:rPr lang="en-US" sz="3200" dirty="0" smtClean="0">
                <a:latin typeface="+mj-lt"/>
              </a:rPr>
              <a:t>pipeline.</a:t>
            </a:r>
            <a:endParaRPr lang="en-IN" sz="3200" dirty="0">
              <a:latin typeface="+mj-lt"/>
            </a:endParaRPr>
          </a:p>
        </p:txBody>
      </p:sp>
    </p:spTree>
    <p:extLst>
      <p:ext uri="{BB962C8B-B14F-4D97-AF65-F5344CB8AC3E}">
        <p14:creationId xmlns:p14="http://schemas.microsoft.com/office/powerpoint/2010/main" val="16825374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Our detection model</a:t>
            </a:r>
            <a:endParaRPr lang="en-IN" sz="4800" dirty="0"/>
          </a:p>
        </p:txBody>
      </p:sp>
      <p:sp>
        <p:nvSpPr>
          <p:cNvPr id="3" name="Content Placeholder 2"/>
          <p:cNvSpPr>
            <a:spLocks noGrp="1"/>
          </p:cNvSpPr>
          <p:nvPr>
            <p:ph idx="1"/>
          </p:nvPr>
        </p:nvSpPr>
        <p:spPr>
          <a:xfrm>
            <a:off x="1153296" y="2084832"/>
            <a:ext cx="10116065" cy="4224528"/>
          </a:xfrm>
        </p:spPr>
        <p:txBody>
          <a:bodyPr>
            <a:noAutofit/>
          </a:bodyPr>
          <a:lstStyle/>
          <a:p>
            <a:pPr marL="0" indent="0" algn="just">
              <a:buNone/>
            </a:pPr>
            <a:r>
              <a:rPr lang="en-US" sz="3200" dirty="0" smtClean="0">
                <a:latin typeface="+mj-lt"/>
              </a:rPr>
              <a:t>Our </a:t>
            </a:r>
            <a:r>
              <a:rPr lang="en-US" sz="3200" dirty="0">
                <a:latin typeface="+mj-lt"/>
              </a:rPr>
              <a:t>detection model is carefully designed to tell apart real content from </a:t>
            </a:r>
            <a:r>
              <a:rPr lang="en-US" sz="3200" dirty="0" err="1">
                <a:latin typeface="+mj-lt"/>
              </a:rPr>
              <a:t>DeepFake</a:t>
            </a:r>
            <a:r>
              <a:rPr lang="en-US" sz="3200" dirty="0">
                <a:latin typeface="+mj-lt"/>
              </a:rPr>
              <a:t> content. We went through several important steps to make sure it works well and can spot fake media accurately</a:t>
            </a:r>
            <a:r>
              <a:rPr lang="en-US" sz="3200" dirty="0" smtClean="0">
                <a:latin typeface="+mj-lt"/>
              </a:rPr>
              <a:t>.</a:t>
            </a:r>
            <a:endParaRPr lang="en-US" sz="3200" dirty="0">
              <a:latin typeface="+mj-lt"/>
            </a:endParaRPr>
          </a:p>
          <a:p>
            <a:pPr marL="514350" indent="-514350" algn="just">
              <a:buClr>
                <a:schemeClr val="tx1"/>
              </a:buClr>
              <a:buFont typeface="+mj-lt"/>
              <a:buAutoNum type="arabicPeriod"/>
            </a:pPr>
            <a:r>
              <a:rPr lang="en-US" sz="3200" dirty="0" smtClean="0">
                <a:latin typeface="+mj-lt"/>
              </a:rPr>
              <a:t>Data </a:t>
            </a:r>
            <a:r>
              <a:rPr lang="en-US" sz="3200" dirty="0">
                <a:latin typeface="+mj-lt"/>
              </a:rPr>
              <a:t>Acquisition and </a:t>
            </a:r>
            <a:r>
              <a:rPr lang="en-US" sz="3200" dirty="0" smtClean="0">
                <a:latin typeface="+mj-lt"/>
              </a:rPr>
              <a:t>Preprocessing:</a:t>
            </a:r>
          </a:p>
          <a:p>
            <a:pPr marL="0" indent="0" algn="just">
              <a:buNone/>
            </a:pPr>
            <a:r>
              <a:rPr lang="en-US" sz="3200" dirty="0" smtClean="0">
                <a:latin typeface="+mj-lt"/>
              </a:rPr>
              <a:t>The first step involves gathering a diverse dataset of both real and </a:t>
            </a:r>
            <a:r>
              <a:rPr lang="en-US" sz="3200" dirty="0" err="1" smtClean="0">
                <a:latin typeface="+mj-lt"/>
              </a:rPr>
              <a:t>DeepFake</a:t>
            </a:r>
            <a:r>
              <a:rPr lang="en-US" sz="3200" dirty="0" smtClean="0">
                <a:latin typeface="+mj-lt"/>
              </a:rPr>
              <a:t> videos. These videos are then preprocessed to extract relevant frames and prepare them for analysis.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4444" y="980303"/>
            <a:ext cx="10297298" cy="5198075"/>
          </a:xfrm>
        </p:spPr>
        <p:txBody>
          <a:bodyPr>
            <a:noAutofit/>
          </a:bodyPr>
          <a:lstStyle/>
          <a:p>
            <a:pPr marL="514350" indent="-514350" algn="just">
              <a:buClr>
                <a:schemeClr val="tx1"/>
              </a:buClr>
              <a:buFont typeface="+mj-lt"/>
              <a:buAutoNum type="arabicPeriod" startAt="2"/>
            </a:pPr>
            <a:r>
              <a:rPr lang="en-US" sz="3200" dirty="0" smtClean="0">
                <a:latin typeface="+mj-lt"/>
              </a:rPr>
              <a:t>Feature Extraction:</a:t>
            </a:r>
          </a:p>
          <a:p>
            <a:pPr marL="0" indent="0" algn="just">
              <a:buNone/>
            </a:pPr>
            <a:r>
              <a:rPr lang="en-US" sz="3200" dirty="0" smtClean="0">
                <a:latin typeface="+mj-lt"/>
              </a:rPr>
              <a:t>Feature </a:t>
            </a:r>
            <a:r>
              <a:rPr lang="en-US" sz="3200" dirty="0">
                <a:latin typeface="+mj-lt"/>
              </a:rPr>
              <a:t>extraction is a crucial step where meaningful features are extracted from the preprocessed images. This </a:t>
            </a:r>
            <a:r>
              <a:rPr lang="en-US" sz="3200" dirty="0" smtClean="0">
                <a:latin typeface="+mj-lt"/>
              </a:rPr>
              <a:t>involved </a:t>
            </a:r>
            <a:r>
              <a:rPr lang="en-US" sz="3200" dirty="0">
                <a:latin typeface="+mj-lt"/>
              </a:rPr>
              <a:t>utilizing deep learning </a:t>
            </a:r>
            <a:r>
              <a:rPr lang="en-US" sz="3200" dirty="0" smtClean="0">
                <a:latin typeface="+mj-lt"/>
              </a:rPr>
              <a:t>technique Res-Net50 to </a:t>
            </a:r>
            <a:r>
              <a:rPr lang="en-US" sz="3200" dirty="0">
                <a:latin typeface="+mj-lt"/>
              </a:rPr>
              <a:t>extract high-level features that capture the distinguishing characteristics of </a:t>
            </a:r>
            <a:r>
              <a:rPr lang="en-US" sz="3200" dirty="0" err="1">
                <a:latin typeface="+mj-lt"/>
              </a:rPr>
              <a:t>DeepFake</a:t>
            </a:r>
            <a:r>
              <a:rPr lang="en-US" sz="3200" dirty="0">
                <a:latin typeface="+mj-lt"/>
              </a:rPr>
              <a:t> and real faces.</a:t>
            </a:r>
          </a:p>
          <a:p>
            <a:pPr marL="514350" indent="-514350" algn="just">
              <a:buClr>
                <a:schemeClr val="tx1"/>
              </a:buClr>
              <a:buFont typeface="+mj-lt"/>
              <a:buAutoNum type="arabicPeriod" startAt="3"/>
            </a:pPr>
            <a:r>
              <a:rPr lang="en-US" sz="3200" dirty="0" smtClean="0">
                <a:latin typeface="+mj-lt"/>
              </a:rPr>
              <a:t>Feature Selection using PCA:</a:t>
            </a:r>
          </a:p>
          <a:p>
            <a:pPr marL="0" indent="0" algn="just">
              <a:buNone/>
            </a:pPr>
            <a:r>
              <a:rPr lang="en-US" sz="3200" dirty="0" smtClean="0">
                <a:latin typeface="+mj-lt"/>
              </a:rPr>
              <a:t>In </a:t>
            </a:r>
            <a:r>
              <a:rPr lang="en-US" sz="3200" dirty="0">
                <a:latin typeface="+mj-lt"/>
              </a:rPr>
              <a:t>this step, Principal Component Analysis (PCA) is applied to reduce the dimensionality of the extracted features while preserving the most important information. PCA helps in selecting the most discriminative features that contribute significantly to differentiating between real and </a:t>
            </a:r>
            <a:r>
              <a:rPr lang="en-US" sz="3200" dirty="0" err="1">
                <a:latin typeface="+mj-lt"/>
              </a:rPr>
              <a:t>DeepFake</a:t>
            </a:r>
            <a:r>
              <a:rPr lang="en-US" sz="3200" dirty="0">
                <a:latin typeface="+mj-lt"/>
              </a:rPr>
              <a:t> faces.</a:t>
            </a:r>
          </a:p>
          <a:p>
            <a:pPr algn="just"/>
            <a:endParaRPr lang="en-IN" sz="3200" dirty="0">
              <a:latin typeface="+mj-l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5632" y="847674"/>
            <a:ext cx="10305535" cy="5184648"/>
          </a:xfrm>
        </p:spPr>
        <p:txBody>
          <a:bodyPr>
            <a:normAutofit/>
          </a:bodyPr>
          <a:lstStyle/>
          <a:p>
            <a:pPr marL="514350" indent="-514350" algn="just">
              <a:buClr>
                <a:schemeClr val="tx1"/>
              </a:buClr>
              <a:buFont typeface="+mj-lt"/>
              <a:buAutoNum type="arabicPeriod" startAt="4"/>
            </a:pPr>
            <a:r>
              <a:rPr lang="en-US" sz="3200" dirty="0">
                <a:latin typeface="+mj-lt"/>
              </a:rPr>
              <a:t>Model Training:</a:t>
            </a:r>
          </a:p>
          <a:p>
            <a:pPr algn="just"/>
            <a:r>
              <a:rPr lang="en-US" sz="3200" dirty="0">
                <a:latin typeface="+mj-lt"/>
              </a:rPr>
              <a:t>With the extracted features, a machine learning model is trained to distinguish between real and </a:t>
            </a:r>
            <a:r>
              <a:rPr lang="en-US" sz="3200" dirty="0" err="1">
                <a:latin typeface="+mj-lt"/>
              </a:rPr>
              <a:t>DeepFake</a:t>
            </a:r>
            <a:r>
              <a:rPr lang="en-US" sz="3200" dirty="0">
                <a:latin typeface="+mj-lt"/>
              </a:rPr>
              <a:t> faces. This </a:t>
            </a:r>
            <a:r>
              <a:rPr lang="en-US" sz="3200" dirty="0" smtClean="0">
                <a:latin typeface="+mj-lt"/>
              </a:rPr>
              <a:t>involved algorithm that is </a:t>
            </a:r>
            <a:r>
              <a:rPr lang="en-US" sz="3200" dirty="0">
                <a:latin typeface="+mj-lt"/>
              </a:rPr>
              <a:t>Support Vector Machines (SVM</a:t>
            </a:r>
            <a:r>
              <a:rPr lang="en-US" sz="3200" dirty="0" smtClean="0">
                <a:latin typeface="+mj-lt"/>
              </a:rPr>
              <a:t>) for faster classification.</a:t>
            </a:r>
          </a:p>
          <a:p>
            <a:pPr marL="514350" indent="-514350" algn="just">
              <a:buClr>
                <a:schemeClr val="tx1"/>
              </a:buClr>
              <a:buFont typeface="+mj-lt"/>
              <a:buAutoNum type="arabicPeriod" startAt="5"/>
            </a:pPr>
            <a:r>
              <a:rPr lang="en-US" sz="3200" dirty="0" smtClean="0">
                <a:latin typeface="+mj-lt"/>
              </a:rPr>
              <a:t>Model </a:t>
            </a:r>
            <a:r>
              <a:rPr lang="en-US" sz="3200" dirty="0">
                <a:latin typeface="+mj-lt"/>
              </a:rPr>
              <a:t>Evaluation:</a:t>
            </a:r>
          </a:p>
          <a:p>
            <a:pPr algn="just">
              <a:buClr>
                <a:schemeClr val="tx1"/>
              </a:buClr>
            </a:pPr>
            <a:r>
              <a:rPr lang="en-US" sz="3200" dirty="0">
                <a:latin typeface="+mj-lt"/>
              </a:rPr>
              <a:t>The trained model is then evaluated using a separate test dataset to assess its performance metrics such as </a:t>
            </a:r>
            <a:r>
              <a:rPr lang="en-US" sz="3200" dirty="0" smtClean="0">
                <a:latin typeface="+mj-lt"/>
              </a:rPr>
              <a:t>accuracy and </a:t>
            </a:r>
            <a:r>
              <a:rPr lang="en-US" sz="3200" dirty="0">
                <a:latin typeface="+mj-lt"/>
              </a:rPr>
              <a:t>F1 score. This step ensures that the model generalizes well to unseen data and effectively identifies </a:t>
            </a:r>
            <a:r>
              <a:rPr lang="en-US" sz="3200" dirty="0" err="1">
                <a:latin typeface="+mj-lt"/>
              </a:rPr>
              <a:t>DeepFake</a:t>
            </a:r>
            <a:r>
              <a:rPr lang="en-US" sz="3200" dirty="0">
                <a:latin typeface="+mj-lt"/>
              </a:rPr>
              <a:t> content while minimizing false positives.</a:t>
            </a:r>
            <a:endParaRPr lang="en-IN" sz="3200" dirty="0">
              <a:latin typeface="+mj-lt"/>
            </a:endParaRPr>
          </a:p>
          <a:p>
            <a:pPr algn="just"/>
            <a:endParaRPr lang="en-US" sz="2800" dirty="0" smtClean="0">
              <a:latin typeface="+mj-lt"/>
            </a:endParaRPr>
          </a:p>
          <a:p>
            <a:pPr algn="just"/>
            <a:endParaRPr lang="en-US" sz="2800" dirty="0">
              <a:latin typeface="+mj-lt"/>
            </a:endParaRPr>
          </a:p>
          <a:p>
            <a:pPr algn="just"/>
            <a:endParaRPr lang="en-US" sz="2800" dirty="0" smtClean="0">
              <a:latin typeface="+mj-lt"/>
            </a:endParaRPr>
          </a:p>
          <a:p>
            <a:pPr algn="just"/>
            <a:endParaRPr lang="en-US" sz="2800" dirty="0">
              <a:latin typeface="+mj-lt"/>
            </a:endParaRPr>
          </a:p>
          <a:p>
            <a:pPr algn="just"/>
            <a:endParaRPr lang="en-IN" sz="2800" dirty="0">
              <a:latin typeface="+mj-lt"/>
            </a:endParaRPr>
          </a:p>
        </p:txBody>
      </p:sp>
    </p:spTree>
    <p:extLst>
      <p:ext uri="{BB962C8B-B14F-4D97-AF65-F5344CB8AC3E}">
        <p14:creationId xmlns:p14="http://schemas.microsoft.com/office/powerpoint/2010/main" val="21497536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5632" y="847674"/>
            <a:ext cx="10305535" cy="5184648"/>
          </a:xfrm>
        </p:spPr>
        <p:txBody>
          <a:bodyPr>
            <a:normAutofit/>
          </a:bodyPr>
          <a:lstStyle/>
          <a:p>
            <a:pPr marL="514350" indent="-514350" algn="just">
              <a:buClr>
                <a:schemeClr val="tx1"/>
              </a:buClr>
              <a:buFont typeface="+mj-lt"/>
              <a:buAutoNum type="arabicPeriod" startAt="6"/>
            </a:pPr>
            <a:r>
              <a:rPr lang="en-US" sz="3200" dirty="0">
                <a:latin typeface="+mj-lt"/>
              </a:rPr>
              <a:t>Deployment and Integration:</a:t>
            </a:r>
          </a:p>
          <a:p>
            <a:pPr algn="just"/>
            <a:r>
              <a:rPr lang="en-US" sz="3200" dirty="0">
                <a:latin typeface="+mj-lt"/>
              </a:rPr>
              <a:t>Once the detection model is trained and validated, it can be deployed into production environments where it can be integrated into various applications and systems to identify and flag </a:t>
            </a:r>
            <a:r>
              <a:rPr lang="en-US" sz="3200" dirty="0" err="1">
                <a:latin typeface="+mj-lt"/>
              </a:rPr>
              <a:t>DeepFake</a:t>
            </a:r>
            <a:r>
              <a:rPr lang="en-US" sz="3200" dirty="0">
                <a:latin typeface="+mj-lt"/>
              </a:rPr>
              <a:t> content in real-time.</a:t>
            </a:r>
          </a:p>
          <a:p>
            <a:pPr algn="just"/>
            <a:endParaRPr lang="en-IN" sz="3200" dirty="0">
              <a:latin typeface="+mj-lt"/>
            </a:endParaRPr>
          </a:p>
        </p:txBody>
      </p:sp>
    </p:spTree>
    <p:extLst>
      <p:ext uri="{BB962C8B-B14F-4D97-AF65-F5344CB8AC3E}">
        <p14:creationId xmlns:p14="http://schemas.microsoft.com/office/powerpoint/2010/main" val="38422009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340645"/>
            <a:ext cx="10187569" cy="1499616"/>
          </a:xfrm>
        </p:spPr>
        <p:txBody>
          <a:bodyPr>
            <a:normAutofit/>
          </a:bodyPr>
          <a:lstStyle/>
          <a:p>
            <a:r>
              <a:rPr lang="en-US" sz="4800" dirty="0" smtClean="0"/>
              <a:t>1.Data </a:t>
            </a:r>
            <a:r>
              <a:rPr lang="en-US" sz="4800" dirty="0"/>
              <a:t>Acquisition and </a:t>
            </a:r>
            <a:r>
              <a:rPr lang="en-US" sz="4800" dirty="0" smtClean="0"/>
              <a:t>Preprocessing</a:t>
            </a:r>
            <a:endParaRPr lang="en-IN" sz="4800" dirty="0"/>
          </a:p>
        </p:txBody>
      </p:sp>
      <p:sp>
        <p:nvSpPr>
          <p:cNvPr id="3" name="Content Placeholder 2"/>
          <p:cNvSpPr>
            <a:spLocks noGrp="1"/>
          </p:cNvSpPr>
          <p:nvPr>
            <p:ph idx="1"/>
          </p:nvPr>
        </p:nvSpPr>
        <p:spPr>
          <a:xfrm>
            <a:off x="894383" y="3212757"/>
            <a:ext cx="7425834" cy="2710248"/>
          </a:xfrm>
        </p:spPr>
        <p:txBody>
          <a:bodyPr>
            <a:noAutofit/>
          </a:bodyPr>
          <a:lstStyle/>
          <a:p>
            <a:pPr algn="just"/>
            <a:r>
              <a:rPr lang="en-US" sz="3200" dirty="0" smtClean="0">
                <a:latin typeface="+mj-lt"/>
              </a:rPr>
              <a:t>Dataset: The data set used here is the DFDC, This is an extensive </a:t>
            </a:r>
            <a:r>
              <a:rPr lang="en-US" sz="3200" dirty="0">
                <a:latin typeface="+mj-lt"/>
              </a:rPr>
              <a:t>face swap video dataset </a:t>
            </a:r>
            <a:r>
              <a:rPr lang="en-US" sz="3200" dirty="0" smtClean="0">
                <a:latin typeface="+mj-lt"/>
              </a:rPr>
              <a:t>from  the </a:t>
            </a:r>
            <a:r>
              <a:rPr lang="en-US" sz="3200" dirty="0" err="1" smtClean="0">
                <a:latin typeface="+mj-lt"/>
              </a:rPr>
              <a:t>DeepFake</a:t>
            </a:r>
            <a:r>
              <a:rPr lang="en-US" sz="3200" dirty="0" smtClean="0">
                <a:latin typeface="+mj-lt"/>
              </a:rPr>
              <a:t> </a:t>
            </a:r>
            <a:r>
              <a:rPr lang="en-US" sz="3200" dirty="0">
                <a:latin typeface="+mj-lt"/>
              </a:rPr>
              <a:t>Detection Challenge (DFDC) </a:t>
            </a:r>
            <a:r>
              <a:rPr lang="en-US" sz="3200" dirty="0" err="1">
                <a:latin typeface="+mj-lt"/>
              </a:rPr>
              <a:t>Kaggle</a:t>
            </a:r>
            <a:r>
              <a:rPr lang="en-US" sz="3200" dirty="0">
                <a:latin typeface="+mj-lt"/>
              </a:rPr>
              <a:t> competition to counter the emerging threat of </a:t>
            </a:r>
            <a:r>
              <a:rPr lang="en-US" sz="3200" dirty="0" err="1">
                <a:latin typeface="+mj-lt"/>
              </a:rPr>
              <a:t>Deepfakes</a:t>
            </a:r>
            <a:r>
              <a:rPr lang="en-US" sz="3200" dirty="0" smtClean="0">
                <a:latin typeface="+mj-lt"/>
              </a:rPr>
              <a:t>. This dataset utilizes various GAN-based, and non-learned methods to generate deep fake.</a:t>
            </a:r>
          </a:p>
        </p:txBody>
      </p:sp>
      <p:pic>
        <p:nvPicPr>
          <p:cNvPr id="4" name="Picture 3"/>
          <p:cNvPicPr/>
          <p:nvPr/>
        </p:nvPicPr>
        <p:blipFill rotWithShape="1">
          <a:blip r:embed="rId2">
            <a:extLst>
              <a:ext uri="{28A0092B-C50C-407E-A947-70E740481C1C}">
                <a14:useLocalDpi xmlns:a14="http://schemas.microsoft.com/office/drawing/2010/main" val="0"/>
              </a:ext>
            </a:extLst>
          </a:blip>
          <a:srcRect l="5883" r="-1" b="4053"/>
          <a:stretch/>
        </p:blipFill>
        <p:spPr bwMode="auto">
          <a:xfrm>
            <a:off x="8397899" y="2917479"/>
            <a:ext cx="3309550" cy="2808410"/>
          </a:xfrm>
          <a:prstGeom prst="rect">
            <a:avLst/>
          </a:prstGeom>
          <a:ln>
            <a:noFill/>
          </a:ln>
          <a:extLst>
            <a:ext uri="{53640926-AAD7-44D8-BBD7-CCE9431645EC}">
              <a14:shadowObscured xmlns:a14="http://schemas.microsoft.com/office/drawing/2010/main"/>
            </a:ext>
          </a:extLst>
        </p:spPr>
      </p:pic>
      <p:sp>
        <p:nvSpPr>
          <p:cNvPr id="6" name="TextBox 5"/>
          <p:cNvSpPr txBox="1"/>
          <p:nvPr/>
        </p:nvSpPr>
        <p:spPr>
          <a:xfrm>
            <a:off x="955589" y="1840261"/>
            <a:ext cx="10585622" cy="1077218"/>
          </a:xfrm>
          <a:prstGeom prst="rect">
            <a:avLst/>
          </a:prstGeom>
          <a:noFill/>
        </p:spPr>
        <p:txBody>
          <a:bodyPr wrap="square" rtlCol="0">
            <a:spAutoFit/>
          </a:bodyPr>
          <a:lstStyle/>
          <a:p>
            <a:pPr algn="just"/>
            <a:r>
              <a:rPr lang="en-US" sz="3200" b="1" dirty="0" smtClean="0">
                <a:latin typeface="+mj-lt"/>
              </a:rPr>
              <a:t>Data </a:t>
            </a:r>
            <a:r>
              <a:rPr lang="en-US" sz="3200" b="1" dirty="0">
                <a:latin typeface="+mj-lt"/>
              </a:rPr>
              <a:t>acquisition </a:t>
            </a:r>
            <a:r>
              <a:rPr lang="en-US" sz="3200" dirty="0">
                <a:latin typeface="+mj-lt"/>
              </a:rPr>
              <a:t>involves downloading the dataset, extracting frames </a:t>
            </a:r>
            <a:r>
              <a:rPr lang="en-US" sz="3200" dirty="0" smtClean="0">
                <a:latin typeface="+mj-lt"/>
              </a:rPr>
              <a:t>from videos</a:t>
            </a:r>
            <a:r>
              <a:rPr lang="en-US" sz="3200" dirty="0">
                <a:latin typeface="+mj-lt"/>
              </a:rPr>
              <a:t>, detecting faces, and saving them to Google Drive</a:t>
            </a:r>
            <a:r>
              <a:rPr lang="en-US" sz="3200" dirty="0" smtClean="0">
                <a:latin typeface="+mj-lt"/>
              </a:rPr>
              <a:t>.</a:t>
            </a:r>
            <a:endParaRPr lang="en-US" sz="3200" dirty="0">
              <a:latin typeface="+mj-lt"/>
            </a:endParaRPr>
          </a:p>
        </p:txBody>
      </p:sp>
    </p:spTree>
    <p:extLst>
      <p:ext uri="{BB962C8B-B14F-4D97-AF65-F5344CB8AC3E}">
        <p14:creationId xmlns:p14="http://schemas.microsoft.com/office/powerpoint/2010/main" val="24440177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509" y="428367"/>
            <a:ext cx="10813647" cy="1276865"/>
          </a:xfrm>
        </p:spPr>
        <p:txBody>
          <a:bodyPr>
            <a:normAutofit fontScale="90000"/>
          </a:bodyPr>
          <a:lstStyle/>
          <a:p>
            <a:r>
              <a:rPr lang="en-IN" b="1" dirty="0"/>
              <a:t/>
            </a:r>
            <a:br>
              <a:rPr lang="en-IN" b="1" dirty="0"/>
            </a:br>
            <a:endParaRPr lang="en-IN" dirty="0"/>
          </a:p>
        </p:txBody>
      </p:sp>
      <p:sp>
        <p:nvSpPr>
          <p:cNvPr id="3" name="Content Placeholder 2"/>
          <p:cNvSpPr>
            <a:spLocks noGrp="1"/>
          </p:cNvSpPr>
          <p:nvPr>
            <p:ph idx="1"/>
          </p:nvPr>
        </p:nvSpPr>
        <p:spPr>
          <a:xfrm>
            <a:off x="851131" y="1198604"/>
            <a:ext cx="10533561" cy="4234249"/>
          </a:xfrm>
        </p:spPr>
        <p:txBody>
          <a:bodyPr>
            <a:normAutofit/>
          </a:bodyPr>
          <a:lstStyle/>
          <a:p>
            <a:pPr algn="just">
              <a:lnSpc>
                <a:spcPct val="100000"/>
              </a:lnSpc>
            </a:pPr>
            <a:r>
              <a:rPr lang="en-IN" sz="3200" dirty="0">
                <a:latin typeface="+mj-lt"/>
              </a:rPr>
              <a:t>From the downloaded </a:t>
            </a:r>
            <a:r>
              <a:rPr lang="en-IN" sz="3200" dirty="0" smtClean="0">
                <a:latin typeface="+mj-lt"/>
              </a:rPr>
              <a:t>dataset </a:t>
            </a:r>
            <a:r>
              <a:rPr lang="en-US" sz="3200" dirty="0">
                <a:latin typeface="+mj-lt"/>
              </a:rPr>
              <a:t>f</a:t>
            </a:r>
            <a:r>
              <a:rPr lang="en-US" sz="3200" dirty="0" smtClean="0">
                <a:latin typeface="+mj-lt"/>
              </a:rPr>
              <a:t>rames </a:t>
            </a:r>
            <a:r>
              <a:rPr lang="en-US" sz="3200" dirty="0">
                <a:latin typeface="+mj-lt"/>
              </a:rPr>
              <a:t>are extracted from the video file using </a:t>
            </a:r>
            <a:r>
              <a:rPr lang="en-US" sz="3200" dirty="0" err="1">
                <a:latin typeface="+mj-lt"/>
              </a:rPr>
              <a:t>OpenCV's</a:t>
            </a:r>
            <a:r>
              <a:rPr lang="en-US" sz="3200" dirty="0">
                <a:latin typeface="+mj-lt"/>
              </a:rPr>
              <a:t> cv2.VideoCapture() and </a:t>
            </a:r>
            <a:r>
              <a:rPr lang="en-US" sz="3200" dirty="0" err="1">
                <a:latin typeface="+mj-lt"/>
              </a:rPr>
              <a:t>cap.read</a:t>
            </a:r>
            <a:r>
              <a:rPr lang="en-US" sz="3200" dirty="0">
                <a:latin typeface="+mj-lt"/>
              </a:rPr>
              <a:t>() functions, then converted from BGR to RGB before releasing the video capture object</a:t>
            </a:r>
            <a:r>
              <a:rPr lang="en-US" sz="3200" dirty="0" smtClean="0">
                <a:latin typeface="+mj-lt"/>
              </a:rPr>
              <a:t>.</a:t>
            </a:r>
          </a:p>
          <a:p>
            <a:pPr algn="just">
              <a:lnSpc>
                <a:spcPct val="100000"/>
              </a:lnSpc>
            </a:pPr>
            <a:r>
              <a:rPr lang="en-US" sz="3200" dirty="0">
                <a:latin typeface="+mj-lt"/>
              </a:rPr>
              <a:t>Faces are detected in each frame using </a:t>
            </a:r>
            <a:r>
              <a:rPr lang="en-US" sz="3200" dirty="0" smtClean="0">
                <a:latin typeface="+mj-lt"/>
              </a:rPr>
              <a:t>face recognition library</a:t>
            </a:r>
            <a:r>
              <a:rPr lang="en-US" sz="3200" i="1" dirty="0" smtClean="0">
                <a:latin typeface="+mj-lt"/>
              </a:rPr>
              <a:t>, </a:t>
            </a:r>
            <a:r>
              <a:rPr lang="en-US" sz="3200" dirty="0" smtClean="0">
                <a:latin typeface="+mj-lt"/>
              </a:rPr>
              <a:t>then </a:t>
            </a:r>
            <a:r>
              <a:rPr lang="en-US" sz="3200" dirty="0">
                <a:latin typeface="+mj-lt"/>
              </a:rPr>
              <a:t>extracted and resized to 224x224 </a:t>
            </a:r>
            <a:r>
              <a:rPr lang="en-US" sz="3200" dirty="0" smtClean="0">
                <a:latin typeface="+mj-lt"/>
              </a:rPr>
              <a:t>pixels, and </a:t>
            </a:r>
            <a:r>
              <a:rPr lang="en-US" sz="3200" dirty="0">
                <a:latin typeface="+mj-lt"/>
              </a:rPr>
              <a:t>finally saved in directories labeled as 'fake' or 'real' based on their classification</a:t>
            </a:r>
            <a:r>
              <a:rPr lang="en-US" sz="3200" dirty="0" smtClean="0">
                <a:latin typeface="+mj-lt"/>
              </a:rPr>
              <a:t>.</a:t>
            </a:r>
          </a:p>
          <a:p>
            <a:pPr algn="just">
              <a:lnSpc>
                <a:spcPct val="100000"/>
              </a:lnSpc>
            </a:pPr>
            <a:r>
              <a:rPr lang="en-US" sz="3200" dirty="0" smtClean="0">
                <a:latin typeface="+mj-lt"/>
              </a:rPr>
              <a:t>The extracted faces are then saved in a directory </a:t>
            </a:r>
            <a:endParaRPr lang="en-IN" sz="3200" dirty="0">
              <a:latin typeface="+mj-l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0031" y="1330409"/>
            <a:ext cx="10278185" cy="4963298"/>
          </a:xfrm>
        </p:spPr>
        <p:txBody>
          <a:bodyPr>
            <a:noAutofit/>
          </a:bodyPr>
          <a:lstStyle/>
          <a:p>
            <a:pPr algn="just"/>
            <a:r>
              <a:rPr lang="en-US" sz="3200" b="1" dirty="0">
                <a:latin typeface="+mj-lt"/>
              </a:rPr>
              <a:t>Data preprocessing </a:t>
            </a:r>
            <a:r>
              <a:rPr lang="en-US" sz="3200" dirty="0">
                <a:latin typeface="+mj-lt"/>
              </a:rPr>
              <a:t>includes reading the saved images, processing them, and encoding the labels</a:t>
            </a:r>
            <a:r>
              <a:rPr lang="en-US" sz="3200" dirty="0" smtClean="0">
                <a:latin typeface="+mj-lt"/>
              </a:rPr>
              <a:t>.</a:t>
            </a:r>
          </a:p>
          <a:p>
            <a:pPr algn="just"/>
            <a:r>
              <a:rPr lang="en-US" sz="3200" dirty="0" smtClean="0">
                <a:latin typeface="+mj-lt"/>
              </a:rPr>
              <a:t>The various </a:t>
            </a:r>
            <a:r>
              <a:rPr lang="en-US" sz="3200" dirty="0">
                <a:latin typeface="+mj-lt"/>
              </a:rPr>
              <a:t>steps included here are</a:t>
            </a:r>
            <a:r>
              <a:rPr lang="en-US" sz="3200" dirty="0" smtClean="0">
                <a:latin typeface="+mj-lt"/>
              </a:rPr>
              <a:t>: </a:t>
            </a:r>
          </a:p>
          <a:p>
            <a:pPr algn="just"/>
            <a:r>
              <a:rPr lang="en-US" sz="3200" dirty="0" smtClean="0">
                <a:latin typeface="+mj-lt"/>
              </a:rPr>
              <a:t>After reading </a:t>
            </a:r>
            <a:r>
              <a:rPr lang="en-US" sz="3200" dirty="0">
                <a:latin typeface="+mj-lt"/>
              </a:rPr>
              <a:t>the saved face images from the Google Drive directories. Iterate through the images and load them to </a:t>
            </a:r>
            <a:r>
              <a:rPr lang="en-US" sz="3200" dirty="0" smtClean="0">
                <a:latin typeface="+mj-lt"/>
              </a:rPr>
              <a:t>ensure </a:t>
            </a:r>
            <a:r>
              <a:rPr lang="en-US" sz="3200" dirty="0">
                <a:latin typeface="+mj-lt"/>
              </a:rPr>
              <a:t>the images have three </a:t>
            </a:r>
            <a:r>
              <a:rPr lang="en-US" sz="3200" dirty="0" smtClean="0">
                <a:latin typeface="+mj-lt"/>
              </a:rPr>
              <a:t>channels(RGB).</a:t>
            </a:r>
            <a:endParaRPr lang="en-US" sz="3200" dirty="0">
              <a:latin typeface="+mj-lt"/>
            </a:endParaRPr>
          </a:p>
          <a:p>
            <a:pPr algn="just"/>
            <a:r>
              <a:rPr lang="en-US" sz="3200" dirty="0">
                <a:latin typeface="+mj-lt"/>
              </a:rPr>
              <a:t>Append the images and their corresponding labels (fake or real) to </a:t>
            </a:r>
            <a:r>
              <a:rPr lang="en-US" sz="3200" dirty="0" smtClean="0">
                <a:latin typeface="+mj-lt"/>
              </a:rPr>
              <a:t>lists.</a:t>
            </a:r>
          </a:p>
          <a:p>
            <a:pPr algn="just"/>
            <a:r>
              <a:rPr lang="en-US" sz="3200" dirty="0">
                <a:latin typeface="+mj-lt"/>
              </a:rPr>
              <a:t>Labels are encoded into numerical format using </a:t>
            </a:r>
            <a:r>
              <a:rPr lang="en-US" sz="3200" i="1" dirty="0" err="1">
                <a:latin typeface="+mj-lt"/>
              </a:rPr>
              <a:t>LabelEncoder</a:t>
            </a:r>
            <a:r>
              <a:rPr lang="en-US" sz="3200" i="1" dirty="0">
                <a:latin typeface="+mj-lt"/>
              </a:rPr>
              <a:t>(), </a:t>
            </a:r>
            <a:r>
              <a:rPr lang="en-US" sz="3200" dirty="0">
                <a:latin typeface="+mj-lt"/>
              </a:rPr>
              <a:t>facilitating their utilization in machine learning models for effective training and analysis.</a:t>
            </a:r>
            <a:endParaRPr lang="en-IN" sz="3200" dirty="0">
              <a:latin typeface="+mj-lt"/>
            </a:endParaRPr>
          </a:p>
        </p:txBody>
      </p:sp>
    </p:spTree>
    <p:extLst>
      <p:ext uri="{BB962C8B-B14F-4D97-AF65-F5344CB8AC3E}">
        <p14:creationId xmlns:p14="http://schemas.microsoft.com/office/powerpoint/2010/main" val="5339381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340645"/>
            <a:ext cx="10187569" cy="1499616"/>
          </a:xfrm>
        </p:spPr>
        <p:txBody>
          <a:bodyPr>
            <a:normAutofit/>
          </a:bodyPr>
          <a:lstStyle/>
          <a:p>
            <a:r>
              <a:rPr lang="en-US" sz="4800" dirty="0" smtClean="0"/>
              <a:t>2.FEATURE EXTRACTION</a:t>
            </a:r>
            <a:endParaRPr lang="en-IN" sz="4800" dirty="0"/>
          </a:p>
        </p:txBody>
      </p:sp>
      <p:sp>
        <p:nvSpPr>
          <p:cNvPr id="6" name="TextBox 5"/>
          <p:cNvSpPr txBox="1"/>
          <p:nvPr/>
        </p:nvSpPr>
        <p:spPr>
          <a:xfrm>
            <a:off x="955589" y="1840261"/>
            <a:ext cx="10585622" cy="4524315"/>
          </a:xfrm>
          <a:prstGeom prst="rect">
            <a:avLst/>
          </a:prstGeom>
          <a:noFill/>
        </p:spPr>
        <p:txBody>
          <a:bodyPr wrap="square" rtlCol="0">
            <a:spAutoFit/>
          </a:bodyPr>
          <a:lstStyle/>
          <a:p>
            <a:pPr algn="just"/>
            <a:r>
              <a:rPr lang="en-US" sz="3200" dirty="0" smtClean="0">
                <a:latin typeface="+mj-lt"/>
              </a:rPr>
              <a:t>We have used the </a:t>
            </a:r>
            <a:r>
              <a:rPr lang="en-US" sz="3200" dirty="0" err="1" smtClean="0">
                <a:latin typeface="+mj-lt"/>
              </a:rPr>
              <a:t>pretrained</a:t>
            </a:r>
            <a:r>
              <a:rPr lang="en-US" sz="3200" dirty="0" smtClean="0">
                <a:latin typeface="+mj-lt"/>
              </a:rPr>
              <a:t> ResNet50 model for the feature extraction of the acquired data.</a:t>
            </a:r>
          </a:p>
          <a:p>
            <a:pPr algn="just"/>
            <a:r>
              <a:rPr lang="en-US" sz="3200" dirty="0" smtClean="0">
                <a:latin typeface="+mj-lt"/>
              </a:rPr>
              <a:t>The </a:t>
            </a:r>
            <a:r>
              <a:rPr lang="en-US" sz="3200" dirty="0">
                <a:latin typeface="+mj-lt"/>
              </a:rPr>
              <a:t>ResNet50 model is used as a feature extractor to capture high-level features from face images. These features can then be fed into additional layers for classification in </a:t>
            </a:r>
            <a:r>
              <a:rPr lang="en-US" sz="3200" dirty="0" smtClean="0">
                <a:latin typeface="+mj-lt"/>
              </a:rPr>
              <a:t>our </a:t>
            </a:r>
            <a:r>
              <a:rPr lang="en-US" sz="3200" dirty="0" err="1">
                <a:latin typeface="+mj-lt"/>
              </a:rPr>
              <a:t>deepfake</a:t>
            </a:r>
            <a:r>
              <a:rPr lang="en-US" sz="3200" dirty="0">
                <a:latin typeface="+mj-lt"/>
              </a:rPr>
              <a:t> detection task</a:t>
            </a:r>
            <a:r>
              <a:rPr lang="en-US" sz="3200" dirty="0" smtClean="0">
                <a:latin typeface="+mj-lt"/>
              </a:rPr>
              <a:t>.</a:t>
            </a:r>
          </a:p>
          <a:p>
            <a:pPr algn="just"/>
            <a:r>
              <a:rPr lang="en-US" sz="3200" dirty="0">
                <a:latin typeface="+mj-lt"/>
              </a:rPr>
              <a:t>Pre-trained </a:t>
            </a:r>
            <a:r>
              <a:rPr lang="en-US" sz="3200" dirty="0" err="1">
                <a:latin typeface="+mj-lt"/>
              </a:rPr>
              <a:t>ResNet</a:t>
            </a:r>
            <a:r>
              <a:rPr lang="en-US" sz="3200" dirty="0">
                <a:latin typeface="+mj-lt"/>
              </a:rPr>
              <a:t> models, such as the one obtained from ImageNet, offer a strong starting point for transfer learning. Transfer learning involves leveraging features learned from a large dataset (like ImageNet) and fine-tuning them for a specific task, requiring less training data and time.</a:t>
            </a:r>
          </a:p>
        </p:txBody>
      </p:sp>
    </p:spTree>
    <p:extLst>
      <p:ext uri="{BB962C8B-B14F-4D97-AF65-F5344CB8AC3E}">
        <p14:creationId xmlns:p14="http://schemas.microsoft.com/office/powerpoint/2010/main" val="9346261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217" y="1301579"/>
            <a:ext cx="7768282" cy="4886923"/>
          </a:xfrm>
          <a:prstGeom prst="rect">
            <a:avLst/>
          </a:prstGeom>
        </p:spPr>
      </p:pic>
      <p:sp>
        <p:nvSpPr>
          <p:cNvPr id="2" name="TextBox 1"/>
          <p:cNvSpPr txBox="1"/>
          <p:nvPr/>
        </p:nvSpPr>
        <p:spPr>
          <a:xfrm>
            <a:off x="1425146" y="568411"/>
            <a:ext cx="8575590" cy="584775"/>
          </a:xfrm>
          <a:prstGeom prst="rect">
            <a:avLst/>
          </a:prstGeom>
          <a:noFill/>
        </p:spPr>
        <p:txBody>
          <a:bodyPr wrap="square" rtlCol="0">
            <a:spAutoFit/>
          </a:bodyPr>
          <a:lstStyle/>
          <a:p>
            <a:pPr algn="just"/>
            <a:r>
              <a:rPr lang="en-US" sz="3200" b="1" dirty="0">
                <a:latin typeface="+mj-lt"/>
              </a:rPr>
              <a:t>Architecture of </a:t>
            </a:r>
            <a:r>
              <a:rPr lang="en-US" sz="3200" b="1" dirty="0" err="1">
                <a:latin typeface="+mj-lt"/>
              </a:rPr>
              <a:t>Resnet</a:t>
            </a:r>
            <a:r>
              <a:rPr lang="en-US" sz="3200" b="1" dirty="0">
                <a:latin typeface="+mj-lt"/>
              </a:rPr>
              <a:t> 50 :</a:t>
            </a:r>
          </a:p>
        </p:txBody>
      </p:sp>
    </p:spTree>
    <p:extLst>
      <p:ext uri="{BB962C8B-B14F-4D97-AF65-F5344CB8AC3E}">
        <p14:creationId xmlns:p14="http://schemas.microsoft.com/office/powerpoint/2010/main" val="18974238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7395" y="1573428"/>
            <a:ext cx="10305535" cy="4160107"/>
          </a:xfrm>
        </p:spPr>
        <p:txBody>
          <a:bodyPr>
            <a:noAutofit/>
          </a:bodyPr>
          <a:lstStyle/>
          <a:p>
            <a:pPr algn="just"/>
            <a:r>
              <a:rPr lang="en-US" sz="3600" dirty="0" err="1" smtClean="0">
                <a:latin typeface="+mj-lt"/>
              </a:rPr>
              <a:t>ResNet</a:t>
            </a:r>
            <a:r>
              <a:rPr lang="en-US" sz="3600" dirty="0" smtClean="0">
                <a:latin typeface="+mj-lt"/>
              </a:rPr>
              <a:t> </a:t>
            </a:r>
            <a:r>
              <a:rPr lang="en-US" sz="3600" dirty="0">
                <a:latin typeface="+mj-lt"/>
              </a:rPr>
              <a:t>introduces residual blocks, where the input to a layer is combined with its output, facilitating the flow of gradients during backpropagation. This helps in training deeper networks more effectively.</a:t>
            </a:r>
          </a:p>
          <a:p>
            <a:pPr algn="just"/>
            <a:r>
              <a:rPr lang="en-US" sz="3600" dirty="0">
                <a:latin typeface="+mj-lt"/>
              </a:rPr>
              <a:t>We have created a new model, </a:t>
            </a:r>
            <a:r>
              <a:rPr lang="en-US" sz="3600" dirty="0" err="1">
                <a:latin typeface="+mj-lt"/>
              </a:rPr>
              <a:t>rnet_model</a:t>
            </a:r>
            <a:r>
              <a:rPr lang="en-US" sz="3600" dirty="0">
                <a:latin typeface="+mj-lt"/>
              </a:rPr>
              <a:t>, which inherits all the layers from the pre-trained ResNet50 model (</a:t>
            </a:r>
            <a:r>
              <a:rPr lang="en-US" sz="3600" dirty="0" err="1" smtClean="0">
                <a:latin typeface="+mj-lt"/>
              </a:rPr>
              <a:t>rnet_model</a:t>
            </a:r>
            <a:r>
              <a:rPr lang="en-US" sz="3600" dirty="0">
                <a:latin typeface="+mj-lt"/>
              </a:rPr>
              <a:t>) except for the input and output layers. These layers are essentially "cut off", leaving only the intermediate layers for feature extraction or further processing.</a:t>
            </a:r>
          </a:p>
          <a:p>
            <a:endParaRPr lang="en-IN" sz="3200" dirty="0">
              <a:latin typeface="+mj-lt"/>
            </a:endParaRPr>
          </a:p>
        </p:txBody>
      </p:sp>
      <p:sp>
        <p:nvSpPr>
          <p:cNvPr id="4" name="TextBox 3"/>
          <p:cNvSpPr txBox="1"/>
          <p:nvPr/>
        </p:nvSpPr>
        <p:spPr>
          <a:xfrm>
            <a:off x="1087395" y="617838"/>
            <a:ext cx="6582032" cy="584775"/>
          </a:xfrm>
          <a:prstGeom prst="rect">
            <a:avLst/>
          </a:prstGeom>
          <a:noFill/>
        </p:spPr>
        <p:txBody>
          <a:bodyPr wrap="square" rtlCol="0">
            <a:spAutoFit/>
          </a:bodyPr>
          <a:lstStyle/>
          <a:p>
            <a:r>
              <a:rPr lang="en-US" sz="3200" b="1" dirty="0" err="1"/>
              <a:t>Contd</a:t>
            </a:r>
            <a:r>
              <a:rPr lang="en-US" sz="3200" b="1" dirty="0"/>
              <a:t>….</a:t>
            </a:r>
            <a:endParaRPr lang="en-IN" sz="3200" b="1" dirty="0"/>
          </a:p>
        </p:txBody>
      </p:sp>
    </p:spTree>
    <p:extLst>
      <p:ext uri="{BB962C8B-B14F-4D97-AF65-F5344CB8AC3E}">
        <p14:creationId xmlns:p14="http://schemas.microsoft.com/office/powerpoint/2010/main" val="14329111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2638" y="390073"/>
            <a:ext cx="9759202" cy="911506"/>
          </a:xfrm>
        </p:spPr>
        <p:txBody>
          <a:bodyPr>
            <a:normAutofit/>
          </a:bodyPr>
          <a:lstStyle/>
          <a:p>
            <a:r>
              <a:rPr lang="en-US" sz="4800" dirty="0" smtClean="0"/>
              <a:t>3.FEATURE SELECTION USING PCA</a:t>
            </a:r>
            <a:endParaRPr lang="en-IN" sz="4800" dirty="0"/>
          </a:p>
        </p:txBody>
      </p:sp>
      <p:sp>
        <p:nvSpPr>
          <p:cNvPr id="6" name="TextBox 5"/>
          <p:cNvSpPr txBox="1"/>
          <p:nvPr/>
        </p:nvSpPr>
        <p:spPr>
          <a:xfrm>
            <a:off x="922638" y="1425146"/>
            <a:ext cx="10527957" cy="4975654"/>
          </a:xfrm>
          <a:prstGeom prst="rect">
            <a:avLst/>
          </a:prstGeom>
          <a:noFill/>
        </p:spPr>
        <p:txBody>
          <a:bodyPr wrap="square" rtlCol="0">
            <a:spAutoFit/>
          </a:bodyPr>
          <a:lstStyle/>
          <a:p>
            <a:pPr algn="just"/>
            <a:r>
              <a:rPr lang="en-US" sz="3200" dirty="0" smtClean="0">
                <a:latin typeface="+mj-lt"/>
              </a:rPr>
              <a:t>PCA </a:t>
            </a:r>
            <a:r>
              <a:rPr lang="en-US" sz="3200" dirty="0">
                <a:latin typeface="+mj-lt"/>
              </a:rPr>
              <a:t>is used to reduce the dimensionality of the extracted features from the ResNet50 model. </a:t>
            </a:r>
            <a:endParaRPr lang="en-US" sz="3200" dirty="0" smtClean="0">
              <a:latin typeface="+mj-lt"/>
            </a:endParaRPr>
          </a:p>
          <a:p>
            <a:pPr algn="just"/>
            <a:r>
              <a:rPr lang="en-US" sz="3200" dirty="0" smtClean="0">
                <a:latin typeface="+mj-lt"/>
              </a:rPr>
              <a:t>By </a:t>
            </a:r>
            <a:r>
              <a:rPr lang="en-US" sz="3200" dirty="0">
                <a:latin typeface="+mj-lt"/>
              </a:rPr>
              <a:t>reducing the </a:t>
            </a:r>
            <a:r>
              <a:rPr lang="en-US" sz="3200" dirty="0" smtClean="0">
                <a:latin typeface="+mj-lt"/>
              </a:rPr>
              <a:t>dimensionality of </a:t>
            </a:r>
            <a:r>
              <a:rPr lang="en-US" sz="3200" dirty="0">
                <a:latin typeface="+mj-lt"/>
              </a:rPr>
              <a:t>the features, PCA effectively selects the most important components that contribute the most to the variance in the data. In this case, it selects 20 principal components that capture the maximum variance in the original feature space</a:t>
            </a:r>
            <a:r>
              <a:rPr lang="en-US" sz="3200" dirty="0" smtClean="0">
                <a:latin typeface="+mj-lt"/>
              </a:rPr>
              <a:t>.</a:t>
            </a:r>
          </a:p>
          <a:p>
            <a:pPr algn="just"/>
            <a:r>
              <a:rPr lang="en-US" sz="3200" dirty="0">
                <a:latin typeface="+mj-lt"/>
              </a:rPr>
              <a:t>By reducing the dimensionality of the features, PCA effectively selects the most important components that contribute the most to the variance in the data. In this case, it selects 20 principal components that capture the maximum variance in the original feature space.</a:t>
            </a:r>
            <a:endParaRPr lang="en-US" sz="3200" dirty="0" smtClean="0">
              <a:latin typeface="+mj-lt"/>
            </a:endParaRPr>
          </a:p>
        </p:txBody>
      </p:sp>
    </p:spTree>
    <p:extLst>
      <p:ext uri="{BB962C8B-B14F-4D97-AF65-F5344CB8AC3E}">
        <p14:creationId xmlns:p14="http://schemas.microsoft.com/office/powerpoint/2010/main" val="13217178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340645"/>
            <a:ext cx="10187569" cy="993885"/>
          </a:xfrm>
        </p:spPr>
        <p:txBody>
          <a:bodyPr>
            <a:normAutofit/>
          </a:bodyPr>
          <a:lstStyle/>
          <a:p>
            <a:r>
              <a:rPr lang="en-US" sz="4800" dirty="0" smtClean="0"/>
              <a:t>4.Model training</a:t>
            </a:r>
            <a:endParaRPr lang="en-IN" sz="4800" dirty="0"/>
          </a:p>
        </p:txBody>
      </p:sp>
      <p:sp>
        <p:nvSpPr>
          <p:cNvPr id="6" name="TextBox 5"/>
          <p:cNvSpPr txBox="1"/>
          <p:nvPr/>
        </p:nvSpPr>
        <p:spPr>
          <a:xfrm>
            <a:off x="958225" y="1535460"/>
            <a:ext cx="7057191" cy="4544063"/>
          </a:xfrm>
          <a:prstGeom prst="rect">
            <a:avLst/>
          </a:prstGeom>
          <a:noFill/>
        </p:spPr>
        <p:txBody>
          <a:bodyPr wrap="square" rtlCol="0">
            <a:spAutoFit/>
          </a:bodyPr>
          <a:lstStyle/>
          <a:p>
            <a:pPr algn="just"/>
            <a:r>
              <a:rPr lang="en-US" sz="3100" dirty="0">
                <a:latin typeface="+mj-lt"/>
              </a:rPr>
              <a:t>Features are extracted from the input </a:t>
            </a:r>
            <a:r>
              <a:rPr lang="en-US" sz="3100" dirty="0" smtClean="0">
                <a:latin typeface="+mj-lt"/>
              </a:rPr>
              <a:t>data. </a:t>
            </a:r>
            <a:r>
              <a:rPr lang="en-US" sz="3100" dirty="0">
                <a:latin typeface="+mj-lt"/>
              </a:rPr>
              <a:t>Each input image in the data array is processed to obtain its corresponding feature vector, and these feature vectors are stored in the features list</a:t>
            </a:r>
            <a:r>
              <a:rPr lang="en-US" sz="3100" dirty="0" smtClean="0">
                <a:latin typeface="+mj-lt"/>
              </a:rPr>
              <a:t>.</a:t>
            </a:r>
          </a:p>
          <a:p>
            <a:pPr algn="just"/>
            <a:r>
              <a:rPr lang="en-US" sz="3100" dirty="0">
                <a:latin typeface="+mj-lt"/>
              </a:rPr>
              <a:t>In </a:t>
            </a:r>
            <a:r>
              <a:rPr lang="en-US" sz="3100" dirty="0" smtClean="0">
                <a:latin typeface="+mj-lt"/>
              </a:rPr>
              <a:t>this training process </a:t>
            </a:r>
            <a:r>
              <a:rPr lang="en-US" sz="3100" dirty="0">
                <a:latin typeface="+mj-lt"/>
              </a:rPr>
              <a:t>a Support Vector Machine (SVM) classifier is trained using the extracted features and their corresponding labels. </a:t>
            </a:r>
          </a:p>
          <a:p>
            <a:pPr algn="just"/>
            <a:r>
              <a:rPr lang="en-US" sz="3100" dirty="0" smtClean="0">
                <a:latin typeface="+mj-lt"/>
              </a:rPr>
              <a:t>The SVC class from </a:t>
            </a:r>
            <a:r>
              <a:rPr lang="en-US" sz="3100" dirty="0" err="1" smtClean="0">
                <a:latin typeface="+mj-lt"/>
              </a:rPr>
              <a:t>scikit</a:t>
            </a:r>
            <a:r>
              <a:rPr lang="en-US" sz="3100" dirty="0" smtClean="0">
                <a:latin typeface="+mj-lt"/>
              </a:rPr>
              <a:t>-learn is used to create an SVM classifier instance.</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8417" r="13924" b="550"/>
          <a:stretch/>
        </p:blipFill>
        <p:spPr>
          <a:xfrm>
            <a:off x="8419071" y="1683742"/>
            <a:ext cx="3352800" cy="4092307"/>
          </a:xfrm>
          <a:prstGeom prst="rect">
            <a:avLst/>
          </a:prstGeom>
        </p:spPr>
      </p:pic>
    </p:spTree>
    <p:extLst>
      <p:ext uri="{BB962C8B-B14F-4D97-AF65-F5344CB8AC3E}">
        <p14:creationId xmlns:p14="http://schemas.microsoft.com/office/powerpoint/2010/main" val="29621762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870" y="717021"/>
            <a:ext cx="10179331" cy="922308"/>
          </a:xfrm>
        </p:spPr>
        <p:txBody>
          <a:bodyPr>
            <a:normAutofit/>
          </a:bodyPr>
          <a:lstStyle/>
          <a:p>
            <a:r>
              <a:rPr lang="en-US" sz="3200" b="1" cap="none" dirty="0" err="1" smtClean="0"/>
              <a:t>Contd</a:t>
            </a:r>
            <a:r>
              <a:rPr lang="en-US" sz="3200" b="1" cap="none" dirty="0" smtClean="0"/>
              <a:t>….</a:t>
            </a:r>
            <a:r>
              <a:rPr lang="en-IN" sz="3200" b="1" cap="none" dirty="0" smtClean="0"/>
              <a:t/>
            </a:r>
            <a:br>
              <a:rPr lang="en-IN" sz="3200" b="1" cap="none" dirty="0" smtClean="0"/>
            </a:br>
            <a:endParaRPr lang="en-IN" sz="3200" cap="none" dirty="0"/>
          </a:p>
        </p:txBody>
      </p:sp>
      <p:sp>
        <p:nvSpPr>
          <p:cNvPr id="3" name="Content Placeholder 2"/>
          <p:cNvSpPr>
            <a:spLocks noGrp="1"/>
          </p:cNvSpPr>
          <p:nvPr>
            <p:ph idx="1"/>
          </p:nvPr>
        </p:nvSpPr>
        <p:spPr>
          <a:xfrm>
            <a:off x="1037967" y="1639329"/>
            <a:ext cx="10245234" cy="4489623"/>
          </a:xfrm>
        </p:spPr>
        <p:txBody>
          <a:bodyPr>
            <a:normAutofit fontScale="92500" lnSpcReduction="10000"/>
          </a:bodyPr>
          <a:lstStyle/>
          <a:p>
            <a:pPr marL="0" indent="0" algn="just">
              <a:buNone/>
            </a:pPr>
            <a:r>
              <a:rPr lang="en-US" sz="3200" dirty="0" smtClean="0">
                <a:latin typeface="+mj-lt"/>
              </a:rPr>
              <a:t>The fit() method is applied to the SVM classifier, where it learns from the extracted features and their corresponding labels. </a:t>
            </a:r>
          </a:p>
          <a:p>
            <a:pPr marL="0" indent="0" algn="just">
              <a:buNone/>
            </a:pPr>
            <a:r>
              <a:rPr lang="en-US" sz="3200" dirty="0" smtClean="0">
                <a:latin typeface="+mj-lt"/>
              </a:rPr>
              <a:t>During this process, the classifier adjusts its parameters to minimize classification errors and maximize accuracy on the training data.</a:t>
            </a:r>
          </a:p>
          <a:p>
            <a:pPr marL="0" indent="0" algn="just">
              <a:buNone/>
            </a:pPr>
            <a:r>
              <a:rPr lang="en-US" sz="3200" dirty="0" smtClean="0">
                <a:latin typeface="+mj-lt"/>
              </a:rPr>
              <a:t>This step essentially teaches the SVM classifier to distinguish between different classes based on the patterns and features present in the input data, allowing it to make predictions on new, unseen data.</a:t>
            </a:r>
          </a:p>
          <a:p>
            <a:pPr marL="0" indent="0" algn="just">
              <a:buNone/>
            </a:pPr>
            <a:r>
              <a:rPr lang="en-US" sz="3200" dirty="0" smtClean="0">
                <a:latin typeface="+mj-lt"/>
              </a:rPr>
              <a:t>SVMs </a:t>
            </a:r>
            <a:r>
              <a:rPr lang="en-US" sz="3200" dirty="0">
                <a:latin typeface="+mj-lt"/>
              </a:rPr>
              <a:t>are used in </a:t>
            </a:r>
            <a:r>
              <a:rPr lang="en-US" sz="3200" dirty="0" err="1">
                <a:latin typeface="+mj-lt"/>
              </a:rPr>
              <a:t>deepfake</a:t>
            </a:r>
            <a:r>
              <a:rPr lang="en-US" sz="3200" dirty="0">
                <a:latin typeface="+mj-lt"/>
              </a:rPr>
              <a:t> detection for their ability to effectively discriminate between real and fake content, handle high-dimensional data, and perform binary classification tasks.</a:t>
            </a:r>
          </a:p>
          <a:p>
            <a:pPr marL="0" indent="0">
              <a:buNone/>
            </a:pPr>
            <a:endParaRPr lang="en-IN" sz="3200" b="1" dirty="0">
              <a:latin typeface="+mj-lt"/>
            </a:endParaRPr>
          </a:p>
        </p:txBody>
      </p:sp>
    </p:spTree>
    <p:extLst>
      <p:ext uri="{BB962C8B-B14F-4D97-AF65-F5344CB8AC3E}">
        <p14:creationId xmlns:p14="http://schemas.microsoft.com/office/powerpoint/2010/main" val="36109781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2810" y="502508"/>
            <a:ext cx="4628347" cy="1136821"/>
          </a:xfrm>
        </p:spPr>
        <p:txBody>
          <a:bodyPr>
            <a:noAutofit/>
          </a:bodyPr>
          <a:lstStyle/>
          <a:p>
            <a:r>
              <a:rPr lang="en-US" sz="4800" dirty="0"/>
              <a:t>5.Model </a:t>
            </a:r>
            <a:r>
              <a:rPr lang="en-US" sz="4800" dirty="0" smtClean="0"/>
              <a:t>Evaluation</a:t>
            </a:r>
            <a:endParaRPr lang="en-IN" sz="4800" cap="none"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2476" y="271848"/>
            <a:ext cx="5824152" cy="6357572"/>
          </a:xfrm>
          <a:prstGeom prst="rect">
            <a:avLst/>
          </a:prstGeom>
        </p:spPr>
      </p:pic>
      <p:sp>
        <p:nvSpPr>
          <p:cNvPr id="5" name="TextBox 4"/>
          <p:cNvSpPr txBox="1"/>
          <p:nvPr/>
        </p:nvSpPr>
        <p:spPr>
          <a:xfrm>
            <a:off x="914399" y="1639329"/>
            <a:ext cx="4736758" cy="4031873"/>
          </a:xfrm>
          <a:prstGeom prst="rect">
            <a:avLst/>
          </a:prstGeom>
          <a:noFill/>
        </p:spPr>
        <p:txBody>
          <a:bodyPr wrap="square" rtlCol="0">
            <a:spAutoFit/>
          </a:bodyPr>
          <a:lstStyle/>
          <a:p>
            <a:pPr algn="just"/>
            <a:r>
              <a:rPr lang="en-US" sz="3200" dirty="0">
                <a:latin typeface="+mj-lt"/>
              </a:rPr>
              <a:t>The performance of our trained model is evaluated </a:t>
            </a:r>
            <a:r>
              <a:rPr lang="en-US" sz="3200" dirty="0" smtClean="0">
                <a:latin typeface="+mj-lt"/>
              </a:rPr>
              <a:t>using </a:t>
            </a:r>
            <a:r>
              <a:rPr lang="en-US" sz="3200" dirty="0">
                <a:latin typeface="+mj-lt"/>
              </a:rPr>
              <a:t>various metrics and visualizations</a:t>
            </a:r>
            <a:r>
              <a:rPr lang="en-US" sz="3200" dirty="0" smtClean="0">
                <a:latin typeface="+mj-lt"/>
              </a:rPr>
              <a:t>:</a:t>
            </a:r>
          </a:p>
          <a:p>
            <a:pPr marL="285750" indent="-285750">
              <a:buFont typeface="Arial" panose="020B0604020202020204" pitchFamily="34" charset="0"/>
              <a:buChar char="•"/>
            </a:pPr>
            <a:r>
              <a:rPr lang="en-US" sz="3200" dirty="0" smtClean="0">
                <a:latin typeface="+mj-lt"/>
              </a:rPr>
              <a:t>Accuracy</a:t>
            </a:r>
          </a:p>
          <a:p>
            <a:pPr marL="285750" indent="-285750">
              <a:buFont typeface="Arial" panose="020B0604020202020204" pitchFamily="34" charset="0"/>
              <a:buChar char="•"/>
            </a:pPr>
            <a:r>
              <a:rPr lang="en-US" sz="3200" dirty="0" smtClean="0">
                <a:latin typeface="+mj-lt"/>
              </a:rPr>
              <a:t>F1 Score</a:t>
            </a:r>
          </a:p>
          <a:p>
            <a:pPr marL="285750" indent="-285750">
              <a:buFont typeface="Arial" panose="020B0604020202020204" pitchFamily="34" charset="0"/>
              <a:buChar char="•"/>
            </a:pPr>
            <a:r>
              <a:rPr lang="en-US" sz="3200" dirty="0" smtClean="0">
                <a:latin typeface="+mj-lt"/>
              </a:rPr>
              <a:t>Confusion matrix</a:t>
            </a:r>
          </a:p>
          <a:p>
            <a:pPr marL="285750" indent="-285750">
              <a:buFont typeface="Arial" panose="020B0604020202020204" pitchFamily="34" charset="0"/>
              <a:buChar char="•"/>
            </a:pPr>
            <a:r>
              <a:rPr lang="en-US" sz="3200" dirty="0" smtClean="0">
                <a:latin typeface="+mj-lt"/>
              </a:rPr>
              <a:t>Sensitivity</a:t>
            </a:r>
          </a:p>
          <a:p>
            <a:pPr marL="285750" indent="-285750">
              <a:buFont typeface="Arial" panose="020B0604020202020204" pitchFamily="34" charset="0"/>
              <a:buChar char="•"/>
            </a:pPr>
            <a:r>
              <a:rPr lang="en-US" sz="3200" dirty="0" smtClean="0">
                <a:latin typeface="+mj-lt"/>
              </a:rPr>
              <a:t>Specificity</a:t>
            </a:r>
            <a:endParaRPr lang="en-IN" sz="3200" dirty="0" smtClean="0">
              <a:latin typeface="+mj-lt"/>
            </a:endParaRPr>
          </a:p>
        </p:txBody>
      </p:sp>
    </p:spTree>
    <p:extLst>
      <p:ext uri="{BB962C8B-B14F-4D97-AF65-F5344CB8AC3E}">
        <p14:creationId xmlns:p14="http://schemas.microsoft.com/office/powerpoint/2010/main" val="39581331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blob:https://web.whatsapp.com/8afef409-31af-4e1d-b510-5377a6f68574"/>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blob:https://web.whatsapp.com/8afef409-31af-4e1d-b510-5377a6f68574"/>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5081" y="782594"/>
            <a:ext cx="6853493" cy="5395783"/>
          </a:xfrm>
          <a:prstGeom prst="rect">
            <a:avLst/>
          </a:prstGeom>
        </p:spPr>
      </p:pic>
      <p:sp>
        <p:nvSpPr>
          <p:cNvPr id="9" name="Rectangle 8"/>
          <p:cNvSpPr/>
          <p:nvPr/>
        </p:nvSpPr>
        <p:spPr>
          <a:xfrm>
            <a:off x="1157837" y="1201351"/>
            <a:ext cx="2170250" cy="584775"/>
          </a:xfrm>
          <a:prstGeom prst="rect">
            <a:avLst/>
          </a:prstGeom>
        </p:spPr>
        <p:txBody>
          <a:bodyPr wrap="square">
            <a:spAutoFit/>
          </a:bodyPr>
          <a:lstStyle/>
          <a:p>
            <a:pPr marL="285750" indent="-285750">
              <a:buFont typeface="Arial" panose="020B0604020202020204" pitchFamily="34" charset="0"/>
              <a:buChar char="•"/>
            </a:pPr>
            <a:r>
              <a:rPr lang="en-US" sz="3200" dirty="0">
                <a:latin typeface="+mj-lt"/>
              </a:rPr>
              <a:t>ROC curve</a:t>
            </a:r>
          </a:p>
        </p:txBody>
      </p:sp>
    </p:spTree>
    <p:extLst>
      <p:ext uri="{BB962C8B-B14F-4D97-AF65-F5344CB8AC3E}">
        <p14:creationId xmlns:p14="http://schemas.microsoft.com/office/powerpoint/2010/main" val="18166540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2810" y="717021"/>
            <a:ext cx="8244758" cy="922308"/>
          </a:xfrm>
        </p:spPr>
        <p:txBody>
          <a:bodyPr>
            <a:noAutofit/>
          </a:bodyPr>
          <a:lstStyle/>
          <a:p>
            <a:r>
              <a:rPr lang="en-US" sz="4800" cap="none" dirty="0" smtClean="0"/>
              <a:t>6. DEPLOYMENT AND INTEGRATION</a:t>
            </a:r>
            <a:endParaRPr lang="en-IN" sz="4800" cap="none" dirty="0"/>
          </a:p>
        </p:txBody>
      </p:sp>
      <p:sp>
        <p:nvSpPr>
          <p:cNvPr id="3" name="Content Placeholder 2"/>
          <p:cNvSpPr>
            <a:spLocks noGrp="1"/>
          </p:cNvSpPr>
          <p:nvPr>
            <p:ph idx="1"/>
          </p:nvPr>
        </p:nvSpPr>
        <p:spPr>
          <a:xfrm>
            <a:off x="1103870" y="1894703"/>
            <a:ext cx="9639013" cy="3410465"/>
          </a:xfrm>
        </p:spPr>
        <p:txBody>
          <a:bodyPr>
            <a:noAutofit/>
          </a:bodyPr>
          <a:lstStyle/>
          <a:p>
            <a:pPr marL="0" indent="0" algn="just">
              <a:buNone/>
            </a:pPr>
            <a:r>
              <a:rPr lang="en-IN" sz="3200" dirty="0" err="1" smtClean="0">
                <a:latin typeface="+mj-lt"/>
              </a:rPr>
              <a:t>Streamlit</a:t>
            </a:r>
            <a:r>
              <a:rPr lang="en-IN" sz="3200" dirty="0" smtClean="0">
                <a:latin typeface="+mj-lt"/>
              </a:rPr>
              <a:t> </a:t>
            </a:r>
            <a:r>
              <a:rPr lang="en-IN" sz="3200" dirty="0">
                <a:latin typeface="+mj-lt"/>
              </a:rPr>
              <a:t>Web Application: Deployed as a user-friendly web app for real-time </a:t>
            </a:r>
            <a:r>
              <a:rPr lang="en-IN" sz="3200" dirty="0" err="1">
                <a:latin typeface="+mj-lt"/>
              </a:rPr>
              <a:t>deepfake</a:t>
            </a:r>
            <a:r>
              <a:rPr lang="en-IN" sz="3200" dirty="0">
                <a:latin typeface="+mj-lt"/>
              </a:rPr>
              <a:t> detection</a:t>
            </a:r>
            <a:r>
              <a:rPr lang="en-IN" sz="3200" dirty="0" smtClean="0">
                <a:latin typeface="+mj-lt"/>
              </a:rPr>
              <a:t>.</a:t>
            </a:r>
          </a:p>
          <a:p>
            <a:pPr marL="0" indent="0" algn="just">
              <a:buNone/>
            </a:pPr>
            <a:r>
              <a:rPr lang="en-IN" sz="3200" dirty="0" smtClean="0">
                <a:latin typeface="+mj-lt"/>
              </a:rPr>
              <a:t>User </a:t>
            </a:r>
            <a:r>
              <a:rPr lang="en-IN" sz="3200" dirty="0">
                <a:latin typeface="+mj-lt"/>
              </a:rPr>
              <a:t>Interface: Allows users to choose camera source and activate </a:t>
            </a:r>
            <a:r>
              <a:rPr lang="en-IN" sz="3200" dirty="0" err="1">
                <a:latin typeface="+mj-lt"/>
              </a:rPr>
              <a:t>deepfake</a:t>
            </a:r>
            <a:r>
              <a:rPr lang="en-IN" sz="3200" dirty="0">
                <a:latin typeface="+mj-lt"/>
              </a:rPr>
              <a:t> detection with checkboxes</a:t>
            </a:r>
            <a:r>
              <a:rPr lang="en-IN" sz="3200" dirty="0" smtClean="0">
                <a:latin typeface="+mj-lt"/>
              </a:rPr>
              <a:t>.</a:t>
            </a:r>
          </a:p>
          <a:p>
            <a:pPr marL="0" indent="0" algn="just">
              <a:buNone/>
            </a:pPr>
            <a:r>
              <a:rPr lang="en-IN" sz="3200" dirty="0" smtClean="0">
                <a:latin typeface="+mj-lt"/>
              </a:rPr>
              <a:t>Model </a:t>
            </a:r>
            <a:r>
              <a:rPr lang="en-IN" sz="3200" dirty="0">
                <a:latin typeface="+mj-lt"/>
              </a:rPr>
              <a:t>Integration: Includes an SVM-based </a:t>
            </a:r>
            <a:r>
              <a:rPr lang="en-IN" sz="3200" dirty="0" err="1">
                <a:latin typeface="+mj-lt"/>
              </a:rPr>
              <a:t>deepfake</a:t>
            </a:r>
            <a:r>
              <a:rPr lang="en-IN" sz="3200" dirty="0">
                <a:latin typeface="+mj-lt"/>
              </a:rPr>
              <a:t> detection model loaded from a saved file</a:t>
            </a:r>
            <a:r>
              <a:rPr lang="en-IN" sz="3200" dirty="0" smtClean="0">
                <a:latin typeface="+mj-lt"/>
              </a:rPr>
              <a:t>.</a:t>
            </a:r>
          </a:p>
        </p:txBody>
      </p:sp>
    </p:spTree>
    <p:extLst>
      <p:ext uri="{BB962C8B-B14F-4D97-AF65-F5344CB8AC3E}">
        <p14:creationId xmlns:p14="http://schemas.microsoft.com/office/powerpoint/2010/main" val="11625612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7"/>
            <a:ext cx="4931830" cy="839930"/>
          </a:xfrm>
        </p:spPr>
        <p:txBody>
          <a:bodyPr>
            <a:normAutofit/>
          </a:bodyPr>
          <a:lstStyle/>
          <a:p>
            <a:r>
              <a:rPr lang="en-US" sz="3200" b="1" cap="none" dirty="0" err="1"/>
              <a:t>Contd</a:t>
            </a:r>
            <a:r>
              <a:rPr lang="en-US" sz="3200" b="1" cap="none" dirty="0" smtClean="0"/>
              <a:t>….</a:t>
            </a:r>
            <a:endParaRPr lang="en-IN" sz="3200" b="1" dirty="0"/>
          </a:p>
        </p:txBody>
      </p:sp>
      <p:sp>
        <p:nvSpPr>
          <p:cNvPr id="3" name="Content Placeholder 2"/>
          <p:cNvSpPr>
            <a:spLocks noGrp="1"/>
          </p:cNvSpPr>
          <p:nvPr>
            <p:ph idx="1"/>
          </p:nvPr>
        </p:nvSpPr>
        <p:spPr>
          <a:xfrm>
            <a:off x="1024128" y="1816443"/>
            <a:ext cx="10179330" cy="4023360"/>
          </a:xfrm>
        </p:spPr>
        <p:txBody>
          <a:bodyPr>
            <a:noAutofit/>
          </a:bodyPr>
          <a:lstStyle/>
          <a:p>
            <a:pPr marL="0" indent="0" algn="just">
              <a:buNone/>
            </a:pPr>
            <a:r>
              <a:rPr lang="en-IN" sz="3200" dirty="0" smtClean="0">
                <a:latin typeface="+mj-lt"/>
              </a:rPr>
              <a:t>Face Swap and Landmark Detection: Integrates face swapping and landmark detection for </a:t>
            </a:r>
            <a:r>
              <a:rPr lang="en-IN" sz="3200" dirty="0" err="1" smtClean="0">
                <a:latin typeface="+mj-lt"/>
              </a:rPr>
              <a:t>realtime</a:t>
            </a:r>
            <a:r>
              <a:rPr lang="en-IN" sz="3200" dirty="0" smtClean="0">
                <a:latin typeface="+mj-lt"/>
              </a:rPr>
              <a:t> </a:t>
            </a:r>
            <a:r>
              <a:rPr lang="en-IN" sz="3200" dirty="0" err="1" smtClean="0">
                <a:latin typeface="+mj-lt"/>
              </a:rPr>
              <a:t>deepfake</a:t>
            </a:r>
            <a:r>
              <a:rPr lang="en-IN" sz="3200" dirty="0" smtClean="0">
                <a:latin typeface="+mj-lt"/>
              </a:rPr>
              <a:t> generation</a:t>
            </a:r>
          </a:p>
          <a:p>
            <a:pPr marL="0" indent="0" algn="just">
              <a:buNone/>
            </a:pPr>
            <a:r>
              <a:rPr lang="en-IN" sz="3200" dirty="0" smtClean="0">
                <a:latin typeface="+mj-lt"/>
              </a:rPr>
              <a:t>Real-time Feedback: Provides live webcam feed with overlaid detection results.</a:t>
            </a:r>
          </a:p>
          <a:p>
            <a:pPr marL="0" indent="0" algn="just">
              <a:buNone/>
            </a:pPr>
            <a:r>
              <a:rPr lang="en-IN" sz="3200" dirty="0" smtClean="0">
                <a:latin typeface="+mj-lt"/>
              </a:rPr>
              <a:t>Speech Alerts: Generates speech alerts for </a:t>
            </a:r>
            <a:r>
              <a:rPr lang="en-IN" sz="3200" dirty="0" err="1" smtClean="0">
                <a:latin typeface="+mj-lt"/>
              </a:rPr>
              <a:t>deepfake</a:t>
            </a:r>
            <a:r>
              <a:rPr lang="en-IN" sz="3200" dirty="0" smtClean="0">
                <a:latin typeface="+mj-lt"/>
              </a:rPr>
              <a:t> detection using text-to-speech conversion.</a:t>
            </a:r>
          </a:p>
          <a:p>
            <a:pPr marL="0" indent="0" algn="just">
              <a:buNone/>
            </a:pPr>
            <a:r>
              <a:rPr lang="en-IN" sz="3200" dirty="0" smtClean="0">
                <a:latin typeface="+mj-lt"/>
              </a:rPr>
              <a:t>User Interaction: Users can interact with the app by starting the webcam feed and enabling detection.</a:t>
            </a:r>
            <a:endParaRPr lang="en-IN" sz="3200" dirty="0">
              <a:latin typeface="+mj-lt"/>
            </a:endParaRPr>
          </a:p>
        </p:txBody>
      </p:sp>
    </p:spTree>
    <p:extLst>
      <p:ext uri="{BB962C8B-B14F-4D97-AF65-F5344CB8AC3E}">
        <p14:creationId xmlns:p14="http://schemas.microsoft.com/office/powerpoint/2010/main" val="401863540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179331" cy="1045876"/>
          </a:xfrm>
        </p:spPr>
        <p:txBody>
          <a:bodyPr>
            <a:normAutofit/>
          </a:bodyPr>
          <a:lstStyle/>
          <a:p>
            <a:r>
              <a:rPr lang="en-US" sz="4800" dirty="0" smtClean="0"/>
              <a:t>Tools used</a:t>
            </a:r>
            <a:endParaRPr lang="en-IN" sz="4800" dirty="0"/>
          </a:p>
        </p:txBody>
      </p:sp>
      <p:sp>
        <p:nvSpPr>
          <p:cNvPr id="3" name="Content Placeholder 2"/>
          <p:cNvSpPr>
            <a:spLocks noGrp="1"/>
          </p:cNvSpPr>
          <p:nvPr>
            <p:ph idx="1"/>
          </p:nvPr>
        </p:nvSpPr>
        <p:spPr>
          <a:xfrm>
            <a:off x="1024126" y="1788269"/>
            <a:ext cx="10179331" cy="4224528"/>
          </a:xfrm>
        </p:spPr>
        <p:txBody>
          <a:bodyPr>
            <a:normAutofit/>
          </a:bodyPr>
          <a:lstStyle/>
          <a:p>
            <a:pPr algn="just"/>
            <a:r>
              <a:rPr lang="en-US" sz="3200" b="1" dirty="0" err="1" smtClean="0">
                <a:latin typeface="+mj-lt"/>
              </a:rPr>
              <a:t>Streamlit</a:t>
            </a:r>
            <a:endParaRPr lang="en-US" sz="3200" b="1" dirty="0" smtClean="0">
              <a:latin typeface="+mj-lt"/>
            </a:endParaRPr>
          </a:p>
          <a:p>
            <a:pPr algn="just"/>
            <a:r>
              <a:rPr lang="en-US" sz="3200" dirty="0" smtClean="0">
                <a:latin typeface="+mj-lt"/>
              </a:rPr>
              <a:t>Used </a:t>
            </a:r>
            <a:r>
              <a:rPr lang="en-US" sz="3200" dirty="0">
                <a:latin typeface="+mj-lt"/>
              </a:rPr>
              <a:t>for building interactive web applications for machine learning and data science tasks. It simplifies the process of creating web interfaces for your Python code</a:t>
            </a:r>
            <a:r>
              <a:rPr lang="en-US" sz="3200" dirty="0" smtClean="0">
                <a:latin typeface="+mj-lt"/>
              </a:rPr>
              <a:t>.</a:t>
            </a:r>
          </a:p>
          <a:p>
            <a:pPr algn="just"/>
            <a:r>
              <a:rPr lang="en-US" sz="3200" b="1" dirty="0" err="1">
                <a:latin typeface="+mj-lt"/>
              </a:rPr>
              <a:t>OpenCV</a:t>
            </a:r>
            <a:r>
              <a:rPr lang="en-US" sz="3200" b="1" dirty="0">
                <a:latin typeface="+mj-lt"/>
              </a:rPr>
              <a:t> (cv2): </a:t>
            </a:r>
            <a:endParaRPr lang="en-US" sz="3200" b="1" dirty="0" smtClean="0">
              <a:latin typeface="+mj-lt"/>
            </a:endParaRPr>
          </a:p>
          <a:p>
            <a:pPr algn="just"/>
            <a:r>
              <a:rPr lang="en-US" sz="3200" dirty="0" smtClean="0">
                <a:latin typeface="+mj-lt"/>
              </a:rPr>
              <a:t>It is </a:t>
            </a:r>
            <a:r>
              <a:rPr lang="en-US" sz="3200" dirty="0">
                <a:latin typeface="+mj-lt"/>
              </a:rPr>
              <a:t>a popular library for computer vision tasks. It provides various functionalities for image and video processing, including reading/writing images, webcam access, face detection, and more.</a:t>
            </a:r>
            <a:endParaRPr lang="en-US" sz="3200" dirty="0" smtClean="0">
              <a:latin typeface="+mj-lt"/>
            </a:endParaRPr>
          </a:p>
          <a:p>
            <a:pPr algn="just"/>
            <a:endParaRPr lang="en-IN" sz="3200" dirty="0">
              <a:latin typeface="+mj-lt"/>
            </a:endParaRPr>
          </a:p>
        </p:txBody>
      </p:sp>
    </p:spTree>
    <p:extLst>
      <p:ext uri="{BB962C8B-B14F-4D97-AF65-F5344CB8AC3E}">
        <p14:creationId xmlns:p14="http://schemas.microsoft.com/office/powerpoint/2010/main" val="11336419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0030" y="844378"/>
            <a:ext cx="10385277" cy="4971535"/>
          </a:xfrm>
        </p:spPr>
        <p:txBody>
          <a:bodyPr>
            <a:normAutofit/>
          </a:bodyPr>
          <a:lstStyle/>
          <a:p>
            <a:pPr marL="0" indent="0" algn="just">
              <a:buNone/>
            </a:pPr>
            <a:r>
              <a:rPr lang="en-US" sz="3200" b="1" dirty="0" err="1" smtClean="0">
                <a:latin typeface="+mj-lt"/>
              </a:rPr>
              <a:t>dlib</a:t>
            </a:r>
            <a:r>
              <a:rPr lang="en-US" sz="3200" dirty="0" err="1" smtClean="0">
                <a:latin typeface="+mj-lt"/>
              </a:rPr>
              <a:t>:It</a:t>
            </a:r>
            <a:r>
              <a:rPr lang="en-US" sz="3200" dirty="0" smtClean="0">
                <a:latin typeface="+mj-lt"/>
              </a:rPr>
              <a:t> </a:t>
            </a:r>
            <a:r>
              <a:rPr lang="en-US" sz="3200" dirty="0">
                <a:latin typeface="+mj-lt"/>
              </a:rPr>
              <a:t>is a C++ toolkit containing machine learning algorithms and tools, primarily for computer vision tasks. It's used here for face detection and facial landmark </a:t>
            </a:r>
            <a:r>
              <a:rPr lang="en-US" sz="3200" dirty="0" smtClean="0">
                <a:latin typeface="+mj-lt"/>
              </a:rPr>
              <a:t>detection.</a:t>
            </a:r>
            <a:endParaRPr lang="en-US" sz="3200" dirty="0">
              <a:latin typeface="+mj-lt"/>
            </a:endParaRPr>
          </a:p>
          <a:p>
            <a:pPr marL="0" indent="0" algn="just">
              <a:buNone/>
            </a:pPr>
            <a:r>
              <a:rPr lang="en-US" sz="3200" b="1" dirty="0" err="1" smtClean="0">
                <a:latin typeface="+mj-lt"/>
              </a:rPr>
              <a:t>scikit</a:t>
            </a:r>
            <a:r>
              <a:rPr lang="en-US" sz="3200" b="1" dirty="0" smtClean="0">
                <a:latin typeface="+mj-lt"/>
              </a:rPr>
              <a:t>-learn</a:t>
            </a:r>
            <a:r>
              <a:rPr lang="en-US" sz="3200" b="1" dirty="0">
                <a:latin typeface="+mj-lt"/>
              </a:rPr>
              <a:t>: </a:t>
            </a:r>
            <a:r>
              <a:rPr lang="en-US" sz="3200" dirty="0" smtClean="0">
                <a:latin typeface="+mj-lt"/>
              </a:rPr>
              <a:t>It is </a:t>
            </a:r>
            <a:r>
              <a:rPr lang="en-US" sz="3200" dirty="0">
                <a:latin typeface="+mj-lt"/>
              </a:rPr>
              <a:t>a machine learning library in </a:t>
            </a:r>
            <a:r>
              <a:rPr lang="en-US" sz="3200" dirty="0" smtClean="0">
                <a:latin typeface="+mj-lt"/>
              </a:rPr>
              <a:t>Python, Here </a:t>
            </a:r>
            <a:r>
              <a:rPr lang="en-US" sz="3200" dirty="0">
                <a:latin typeface="+mj-lt"/>
              </a:rPr>
              <a:t>it is used for loading a pre-trained model, feature extraction, and PCA (Principal Component Analysis</a:t>
            </a:r>
            <a:r>
              <a:rPr lang="en-US" sz="3200" dirty="0" smtClean="0">
                <a:latin typeface="+mj-lt"/>
              </a:rPr>
              <a:t>).</a:t>
            </a:r>
          </a:p>
          <a:p>
            <a:pPr marL="0" indent="0" algn="just">
              <a:buNone/>
            </a:pPr>
            <a:r>
              <a:rPr lang="en-US" sz="3200" b="1" dirty="0" err="1">
                <a:latin typeface="+mj-lt"/>
              </a:rPr>
              <a:t>TensorFlow</a:t>
            </a:r>
            <a:r>
              <a:rPr lang="en-US" sz="3200" b="1" dirty="0">
                <a:latin typeface="+mj-lt"/>
              </a:rPr>
              <a:t> and </a:t>
            </a:r>
            <a:r>
              <a:rPr lang="en-US" sz="3200" b="1" dirty="0" err="1">
                <a:latin typeface="+mj-lt"/>
              </a:rPr>
              <a:t>Keras</a:t>
            </a:r>
            <a:r>
              <a:rPr lang="en-US" sz="3200" b="1" dirty="0">
                <a:latin typeface="+mj-lt"/>
              </a:rPr>
              <a:t> </a:t>
            </a:r>
            <a:r>
              <a:rPr lang="en-US" sz="3200" dirty="0" smtClean="0">
                <a:latin typeface="+mj-lt"/>
              </a:rPr>
              <a:t>:Here it utilized </a:t>
            </a:r>
            <a:r>
              <a:rPr lang="en-US" sz="3200" dirty="0">
                <a:latin typeface="+mj-lt"/>
              </a:rPr>
              <a:t>to load a pre-trained ResNet50 model for feature extraction. </a:t>
            </a:r>
            <a:r>
              <a:rPr lang="en-US" sz="3200" dirty="0" err="1">
                <a:latin typeface="+mj-lt"/>
              </a:rPr>
              <a:t>TensorFlow</a:t>
            </a:r>
            <a:r>
              <a:rPr lang="en-US" sz="3200" dirty="0">
                <a:latin typeface="+mj-lt"/>
              </a:rPr>
              <a:t> offers scalability for deep learning model development, while </a:t>
            </a:r>
            <a:r>
              <a:rPr lang="en-US" sz="3200" dirty="0" err="1">
                <a:latin typeface="+mj-lt"/>
              </a:rPr>
              <a:t>Keras</a:t>
            </a:r>
            <a:r>
              <a:rPr lang="en-US" sz="3200" dirty="0">
                <a:latin typeface="+mj-lt"/>
              </a:rPr>
              <a:t> simplifies neural network construction. This integration facilitates efficient image feature extraction, enhancing the application's </a:t>
            </a:r>
            <a:r>
              <a:rPr lang="en-US" sz="3200" dirty="0" err="1">
                <a:latin typeface="+mj-lt"/>
              </a:rPr>
              <a:t>DeepFake</a:t>
            </a:r>
            <a:r>
              <a:rPr lang="en-US" sz="3200" dirty="0">
                <a:latin typeface="+mj-lt"/>
              </a:rPr>
              <a:t> detection capabilities.</a:t>
            </a:r>
            <a:endParaRPr lang="en-IN" sz="3200" dirty="0">
              <a:latin typeface="+mj-lt"/>
            </a:endParaRPr>
          </a:p>
        </p:txBody>
      </p:sp>
    </p:spTree>
    <p:extLst>
      <p:ext uri="{BB962C8B-B14F-4D97-AF65-F5344CB8AC3E}">
        <p14:creationId xmlns:p14="http://schemas.microsoft.com/office/powerpoint/2010/main" val="14978455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UML DIAGRAMS       </a:t>
            </a:r>
            <a:endParaRPr lang="en-IN" dirty="0"/>
          </a:p>
        </p:txBody>
      </p:sp>
      <p:sp>
        <p:nvSpPr>
          <p:cNvPr id="3" name="Subtitle 2"/>
          <p:cNvSpPr>
            <a:spLocks noGrp="1"/>
          </p:cNvSpPr>
          <p:nvPr>
            <p:ph type="subTitle" idx="1"/>
          </p:nvPr>
        </p:nvSpPr>
        <p:spPr/>
        <p:txBody>
          <a:bodyPr>
            <a:normAutofit/>
          </a:bodyPr>
          <a:lstStyle/>
          <a:p>
            <a:pPr marL="285750" indent="-285750">
              <a:buFont typeface="Arial" panose="020B0604020202020204" pitchFamily="34" charset="0"/>
              <a:buChar char="•"/>
            </a:pPr>
            <a:r>
              <a:rPr lang="en-US" sz="2800" dirty="0" smtClean="0">
                <a:latin typeface="+mj-lt"/>
              </a:rPr>
              <a:t>USE CASE </a:t>
            </a:r>
          </a:p>
          <a:p>
            <a:pPr marL="285750" indent="-285750">
              <a:buFont typeface="Arial" panose="020B0604020202020204" pitchFamily="34" charset="0"/>
              <a:buChar char="•"/>
            </a:pPr>
            <a:r>
              <a:rPr lang="en-US" sz="2800" dirty="0" smtClean="0">
                <a:latin typeface="+mj-lt"/>
              </a:rPr>
              <a:t>SEQUENCE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939" y="675502"/>
            <a:ext cx="4389120" cy="1291388"/>
          </a:xfrm>
        </p:spPr>
        <p:txBody>
          <a:bodyPr/>
          <a:lstStyle/>
          <a:p>
            <a:r>
              <a:rPr lang="en-US" sz="4800" dirty="0" smtClean="0"/>
              <a:t>USE CASE DIAGRAM</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4128" t="4649" r="10452" b="6288"/>
          <a:stretch/>
        </p:blipFill>
        <p:spPr>
          <a:xfrm>
            <a:off x="4917988" y="354228"/>
            <a:ext cx="6112476" cy="6305494"/>
          </a:xfrm>
          <a:prstGeom prst="rect">
            <a:avLst/>
          </a:prstGeom>
          <a:solidFill>
            <a:srgbClr val="FDFDFD"/>
          </a:solid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5890" y="776309"/>
            <a:ext cx="4389120" cy="937161"/>
          </a:xfrm>
        </p:spPr>
        <p:txBody>
          <a:bodyPr/>
          <a:lstStyle/>
          <a:p>
            <a:r>
              <a:rPr lang="en-US" sz="4400" dirty="0" smtClean="0"/>
              <a:t>SEQUENCE DIAGRAM</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462" t="5369" r="-104" b="11905"/>
          <a:stretch/>
        </p:blipFill>
        <p:spPr>
          <a:xfrm>
            <a:off x="1400432" y="1812324"/>
            <a:ext cx="9143999" cy="4123443"/>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179331" cy="1045876"/>
          </a:xfrm>
        </p:spPr>
        <p:txBody>
          <a:bodyPr>
            <a:normAutofit/>
          </a:bodyPr>
          <a:lstStyle/>
          <a:p>
            <a:r>
              <a:rPr lang="en-US" sz="4800" dirty="0" smtClean="0"/>
              <a:t>APP UI</a:t>
            </a:r>
            <a:endParaRPr lang="en-IN" sz="4800" dirty="0"/>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b="12862"/>
          <a:stretch/>
        </p:blipFill>
        <p:spPr>
          <a:xfrm>
            <a:off x="1467651" y="1548713"/>
            <a:ext cx="9292282" cy="4689913"/>
          </a:xfrm>
        </p:spPr>
      </p:pic>
    </p:spTree>
    <p:extLst>
      <p:ext uri="{BB962C8B-B14F-4D97-AF65-F5344CB8AC3E}">
        <p14:creationId xmlns:p14="http://schemas.microsoft.com/office/powerpoint/2010/main" val="21689621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179331" cy="1045876"/>
          </a:xfrm>
        </p:spPr>
        <p:txBody>
          <a:bodyPr>
            <a:normAutofit/>
          </a:bodyPr>
          <a:lstStyle/>
          <a:p>
            <a:r>
              <a:rPr lang="en-US" sz="4800" dirty="0" smtClean="0"/>
              <a:t>Normal video output</a:t>
            </a:r>
            <a:endParaRPr lang="en-IN" sz="4800" dirty="0"/>
          </a:p>
        </p:txBody>
      </p:sp>
      <p:pic>
        <p:nvPicPr>
          <p:cNvPr id="5" name="Content Placeholder 4"/>
          <p:cNvPicPr>
            <a:picLocks noGrp="1" noChangeAspect="1"/>
          </p:cNvPicPr>
          <p:nvPr>
            <p:ph idx="1"/>
          </p:nvPr>
        </p:nvPicPr>
        <p:blipFill rotWithShape="1">
          <a:blip r:embed="rId2">
            <a:extLst>
              <a:ext uri="{28A0092B-C50C-407E-A947-70E740481C1C}">
                <a14:useLocalDpi xmlns:a14="http://schemas.microsoft.com/office/drawing/2010/main" val="0"/>
              </a:ext>
            </a:extLst>
          </a:blip>
          <a:srcRect b="11148"/>
          <a:stretch/>
        </p:blipFill>
        <p:spPr>
          <a:xfrm>
            <a:off x="1721706" y="1631092"/>
            <a:ext cx="9094573" cy="4604951"/>
          </a:xfrm>
        </p:spPr>
      </p:pic>
    </p:spTree>
    <p:extLst>
      <p:ext uri="{BB962C8B-B14F-4D97-AF65-F5344CB8AC3E}">
        <p14:creationId xmlns:p14="http://schemas.microsoft.com/office/powerpoint/2010/main" val="71875581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179331" cy="1045876"/>
          </a:xfrm>
        </p:spPr>
        <p:txBody>
          <a:bodyPr>
            <a:normAutofit/>
          </a:bodyPr>
          <a:lstStyle/>
          <a:p>
            <a:r>
              <a:rPr lang="en-US" sz="4800" dirty="0" smtClean="0"/>
              <a:t>Detection of </a:t>
            </a:r>
            <a:r>
              <a:rPr lang="en-US" sz="4800" dirty="0" err="1" smtClean="0"/>
              <a:t>deepfake</a:t>
            </a:r>
            <a:r>
              <a:rPr lang="en-US" sz="4800" dirty="0" smtClean="0"/>
              <a:t> video output</a:t>
            </a:r>
            <a:endParaRPr lang="en-IN" sz="4800" dirty="0"/>
          </a:p>
        </p:txBody>
      </p:sp>
      <p:pic>
        <p:nvPicPr>
          <p:cNvPr id="5" name="Content Placeholder 4"/>
          <p:cNvPicPr>
            <a:picLocks noGrp="1" noChangeAspect="1"/>
          </p:cNvPicPr>
          <p:nvPr>
            <p:ph idx="1"/>
          </p:nvPr>
        </p:nvPicPr>
        <p:blipFill rotWithShape="1">
          <a:blip r:embed="rId2">
            <a:extLst>
              <a:ext uri="{28A0092B-C50C-407E-A947-70E740481C1C}">
                <a14:useLocalDpi xmlns:a14="http://schemas.microsoft.com/office/drawing/2010/main" val="0"/>
              </a:ext>
            </a:extLst>
          </a:blip>
          <a:srcRect b="11636"/>
          <a:stretch/>
        </p:blipFill>
        <p:spPr>
          <a:xfrm>
            <a:off x="1724319" y="1729946"/>
            <a:ext cx="8970904" cy="4566891"/>
          </a:xfrm>
        </p:spPr>
      </p:pic>
    </p:spTree>
    <p:extLst>
      <p:ext uri="{BB962C8B-B14F-4D97-AF65-F5344CB8AC3E}">
        <p14:creationId xmlns:p14="http://schemas.microsoft.com/office/powerpoint/2010/main" val="4392136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71509"/>
            <a:ext cx="4389120" cy="1489096"/>
          </a:xfrm>
        </p:spPr>
        <p:txBody>
          <a:bodyPr/>
          <a:lstStyle/>
          <a:p>
            <a:r>
              <a:rPr lang="en-US" sz="4400" dirty="0"/>
              <a:t>FUTURE SCOPE OF THIS PROJECT</a:t>
            </a:r>
          </a:p>
        </p:txBody>
      </p:sp>
      <p:pic>
        <p:nvPicPr>
          <p:cNvPr id="5" name="Content Placeholder 4" descr="WhatsApp Image 2024-01-07 at 19.44.26_0c020137"/>
          <p:cNvPicPr>
            <a:picLocks noGrp="1" noChangeAspect="1"/>
          </p:cNvPicPr>
          <p:nvPr>
            <p:ph idx="1"/>
          </p:nvPr>
        </p:nvPicPr>
        <p:blipFill>
          <a:blip r:embed="rId2"/>
          <a:stretch>
            <a:fillRect/>
          </a:stretch>
        </p:blipFill>
        <p:spPr>
          <a:xfrm>
            <a:off x="6220082" y="1495614"/>
            <a:ext cx="5638800" cy="4295586"/>
          </a:xfrm>
          <a:prstGeom prst="rect">
            <a:avLst/>
          </a:prstGeom>
        </p:spPr>
      </p:pic>
      <p:sp>
        <p:nvSpPr>
          <p:cNvPr id="4" name="Text Placeholder 3"/>
          <p:cNvSpPr>
            <a:spLocks noGrp="1"/>
          </p:cNvSpPr>
          <p:nvPr>
            <p:ph type="body" sz="half" idx="2"/>
          </p:nvPr>
        </p:nvSpPr>
        <p:spPr>
          <a:xfrm>
            <a:off x="1024127" y="2026508"/>
            <a:ext cx="5071873" cy="3336324"/>
          </a:xfrm>
        </p:spPr>
        <p:txBody>
          <a:bodyPr>
            <a:noAutofit/>
          </a:bodyPr>
          <a:lstStyle/>
          <a:p>
            <a:pPr algn="just"/>
            <a:r>
              <a:rPr lang="en-US" sz="2400" dirty="0">
                <a:latin typeface="+mj-lt"/>
              </a:rPr>
              <a:t>Currently only Face Deep Fakes are being detected by the algorithm, but the algorithm can be enhanced in detecting full body deep fakes</a:t>
            </a:r>
            <a:r>
              <a:rPr lang="en-US" sz="2400" dirty="0" smtClean="0">
                <a:latin typeface="+mj-lt"/>
              </a:rPr>
              <a:t>.</a:t>
            </a:r>
            <a:endParaRPr lang="en-US" sz="2400" dirty="0">
              <a:latin typeface="+mj-lt"/>
            </a:endParaRPr>
          </a:p>
          <a:p>
            <a:pPr algn="just"/>
            <a:r>
              <a:rPr lang="en-US" sz="2400" dirty="0">
                <a:latin typeface="+mj-lt"/>
              </a:rPr>
              <a:t>Integrate various modalities such as audio, facial expressions, and contextual information to enhance the robustness of the detection system. This can help in </a:t>
            </a:r>
            <a:r>
              <a:rPr lang="en-US" sz="2400" dirty="0" smtClean="0">
                <a:latin typeface="+mj-lt"/>
              </a:rPr>
              <a:t>detecting </a:t>
            </a:r>
            <a:r>
              <a:rPr lang="en-US" sz="2400" dirty="0">
                <a:latin typeface="+mj-lt"/>
              </a:rPr>
              <a:t>more sophisticated </a:t>
            </a:r>
            <a:r>
              <a:rPr lang="en-US" sz="2400" dirty="0" err="1">
                <a:latin typeface="+mj-lt"/>
              </a:rPr>
              <a:t>Deepfake</a:t>
            </a:r>
            <a:r>
              <a:rPr lang="en-US" sz="2400" dirty="0">
                <a:latin typeface="+mj-lt"/>
              </a:rPr>
              <a:t> techniques</a:t>
            </a:r>
            <a:r>
              <a:rPr lang="en-US" sz="2400" dirty="0" smtClean="0">
                <a:latin typeface="+mj-lt"/>
              </a:rPr>
              <a:t>.</a:t>
            </a:r>
          </a:p>
          <a:p>
            <a:pPr algn="just"/>
            <a:endParaRPr lang="en-US" sz="2400" dirty="0">
              <a:latin typeface="+mj-lt"/>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p:cNvSpPr/>
          <p:nvPr/>
        </p:nvSpPr>
        <p:spPr>
          <a:xfrm>
            <a:off x="3295015" y="2829560"/>
            <a:ext cx="5601335" cy="1198880"/>
          </a:xfrm>
          <a:prstGeom prst="rect">
            <a:avLst/>
          </a:prstGeom>
          <a:noFill/>
          <a:ln>
            <a:noFill/>
          </a:ln>
        </p:spPr>
        <p:txBody>
          <a:bodyPr wrap="none" rtlCol="0" anchor="t">
            <a:spAutoFit/>
          </a:bodyPr>
          <a:lstStyle/>
          <a:p>
            <a:pPr algn="ctr"/>
            <a:r>
              <a:rPr lang="en-US" altLang="zh-CN" sz="7200" b="1">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8A2F88-55C5-4ED1-9541-807C65424763}">
  <ds:schemaRefs>
    <ds:schemaRef ds:uri="http://www.w3.org/XML/1998/namespace"/>
    <ds:schemaRef ds:uri="http://schemas.microsoft.com/office/2006/documentManagement/types"/>
    <ds:schemaRef ds:uri="71af3243-3dd4-4a8d-8c0d-dd76da1f02a5"/>
    <ds:schemaRef ds:uri="http://schemas.microsoft.com/office/2006/metadata/properties"/>
    <ds:schemaRef ds:uri="http://purl.org/dc/terms/"/>
    <ds:schemaRef ds:uri="http://schemas.microsoft.com/office/infopath/2007/PartnerControls"/>
    <ds:schemaRef ds:uri="http://schemas.openxmlformats.org/package/2006/metadata/core-properties"/>
    <ds:schemaRef ds:uri="16c05727-aa75-4e4a-9b5f-8a80a1165891"/>
    <ds:schemaRef ds:uri="http://purl.org/dc/dcmitype/"/>
    <ds:schemaRef ds:uri="http://purl.org/dc/elements/1.1/"/>
  </ds:schemaRefs>
</ds:datastoreItem>
</file>

<file path=customXml/itemProps2.xml><?xml version="1.0" encoding="utf-8"?>
<ds:datastoreItem xmlns:ds="http://schemas.openxmlformats.org/officeDocument/2006/customXml" ds:itemID="{B61EAB5F-88FC-4FAE-AE3C-037A3C365EB8}">
  <ds:schemaRefs/>
</ds:datastoreItem>
</file>

<file path=customXml/itemProps3.xml><?xml version="1.0" encoding="utf-8"?>
<ds:datastoreItem xmlns:ds="http://schemas.openxmlformats.org/officeDocument/2006/customXml" ds:itemID="{4F44C90D-2A62-4985-9618-3460247437B1}">
  <ds:schemaRefs/>
</ds:datastoreItem>
</file>

<file path=docProps/app.xml><?xml version="1.0" encoding="utf-8"?>
<Properties xmlns="http://schemas.openxmlformats.org/officeDocument/2006/extended-properties" xmlns:vt="http://schemas.openxmlformats.org/officeDocument/2006/docPropsVTypes">
  <Template>Integral design</Template>
  <TotalTime>0</TotalTime>
  <Words>1783</Words>
  <Application>Microsoft Office PowerPoint</Application>
  <PresentationFormat>Widescreen</PresentationFormat>
  <Paragraphs>118</Paragraphs>
  <Slides>35</Slides>
  <Notes>0</Notes>
  <HiddenSlides>0</HiddenSlides>
  <MMClips>1</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35</vt:i4>
      </vt:variant>
    </vt:vector>
  </HeadingPairs>
  <TitlesOfParts>
    <vt:vector size="43" baseType="lpstr">
      <vt:lpstr>SimSun</vt:lpstr>
      <vt:lpstr>Arial</vt:lpstr>
      <vt:lpstr>Calibri</vt:lpstr>
      <vt:lpstr>Tw Cen MT</vt:lpstr>
      <vt:lpstr>Tw Cen MT Condensed</vt:lpstr>
      <vt:lpstr>Wingdings 3</vt:lpstr>
      <vt:lpstr>Integral</vt:lpstr>
      <vt:lpstr>Gear Drives</vt:lpstr>
      <vt:lpstr>Deep fake real-time detection</vt:lpstr>
      <vt:lpstr>introduction</vt:lpstr>
      <vt:lpstr>PowerPoint Presentation</vt:lpstr>
      <vt:lpstr>How deep fakes are created?</vt:lpstr>
      <vt:lpstr>Why deep fake detection?</vt:lpstr>
      <vt:lpstr>PROPOSED SOLUTION</vt:lpstr>
      <vt:lpstr>Contd….</vt:lpstr>
      <vt:lpstr>Contd….</vt:lpstr>
      <vt:lpstr>Our detection model</vt:lpstr>
      <vt:lpstr>PowerPoint Presentation</vt:lpstr>
      <vt:lpstr>PowerPoint Presentation</vt:lpstr>
      <vt:lpstr>PowerPoint Presentation</vt:lpstr>
      <vt:lpstr>1.Data Acquisition and Preprocessing</vt:lpstr>
      <vt:lpstr> </vt:lpstr>
      <vt:lpstr>PowerPoint Presentation</vt:lpstr>
      <vt:lpstr>2.FEATURE EXTRACTION</vt:lpstr>
      <vt:lpstr>PowerPoint Presentation</vt:lpstr>
      <vt:lpstr>PowerPoint Presentation</vt:lpstr>
      <vt:lpstr>3.FEATURE SELECTION USING PCA</vt:lpstr>
      <vt:lpstr>4.Model training</vt:lpstr>
      <vt:lpstr>Contd…. </vt:lpstr>
      <vt:lpstr>5.Model Evaluation</vt:lpstr>
      <vt:lpstr>PowerPoint Presentation</vt:lpstr>
      <vt:lpstr>6. DEPLOYMENT AND INTEGRATION</vt:lpstr>
      <vt:lpstr>Contd….</vt:lpstr>
      <vt:lpstr>Tools used</vt:lpstr>
      <vt:lpstr>PowerPoint Presentation</vt:lpstr>
      <vt:lpstr>UML DIAGRAMS       </vt:lpstr>
      <vt:lpstr>USE CASE DIAGRAM</vt:lpstr>
      <vt:lpstr>SEQUENCE DIAGRAM</vt:lpstr>
      <vt:lpstr>APP UI</vt:lpstr>
      <vt:lpstr>Normal video output</vt:lpstr>
      <vt:lpstr>Detection of deepfake video output</vt:lpstr>
      <vt:lpstr>FUTURE SCOPE OF THIS PROJECT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cp:revision>
  <dcterms:created xsi:type="dcterms:W3CDTF">2024-01-07T05:57:00Z</dcterms:created>
  <dcterms:modified xsi:type="dcterms:W3CDTF">2024-04-23T02:44:26Z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082FD2BDE3904DA786AD75FDFD7B1C1B_13</vt:lpwstr>
  </property>
  <property fmtid="{D5CDD505-2E9C-101B-9397-08002B2CF9AE}" pid="4" name="KSOProductBuildVer">
    <vt:lpwstr>1033-12.2.0.13359</vt:lpwstr>
  </property>
</Properties>
</file>